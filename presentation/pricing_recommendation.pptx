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94b586ec25e433f" /><Relationship Type="http://schemas.openxmlformats.org/officeDocument/2006/relationships/extended-properties" Target="/docProps/app.xml" Id="R39ad72afdc6c4b14" /><Relationship Type="http://schemas.openxmlformats.org/officeDocument/2006/relationships/officeDocument" Target="/ppt/presentation.xml" Id="R3e30b517fb894501" /></Relationships>
</file>

<file path=ppt/presentation.xml><?xml version="1.0" encoding="utf-8"?>
<p:presentation xmlns:p="http://schemas.openxmlformats.org/presentationml/2006/main">
  <p:sldMasterIdLst>
    <p:sldMasterId xmlns:r="http://schemas.openxmlformats.org/officeDocument/2006/relationships" id="2147483648" r:id="R2b0bdde3ef2c4c02"/>
  </p:sldMasterIdLst>
  <p:notesMasterIdLst>
    <p:notesMasterId xmlns:r="http://schemas.openxmlformats.org/officeDocument/2006/relationships" r:id="R5660bbc33450483d"/>
  </p:notesMasterIdLst>
  <p:sldIdLst>
    <p:sldId xmlns:r="http://schemas.openxmlformats.org/officeDocument/2006/relationships" id="256" r:id="Rb4311d09b0dd4a0b"/>
    <p:sldId xmlns:r="http://schemas.openxmlformats.org/officeDocument/2006/relationships" id="257" r:id="Rbeac5cf7bbd6484d"/>
    <p:sldId xmlns:r="http://schemas.openxmlformats.org/officeDocument/2006/relationships" id="258" r:id="R9545e3ceb43a4b0f"/>
    <p:sldId xmlns:r="http://schemas.openxmlformats.org/officeDocument/2006/relationships" id="259" r:id="Rce2f6460df8d408b"/>
    <p:sldId xmlns:r="http://schemas.openxmlformats.org/officeDocument/2006/relationships" id="260" r:id="R14d3fe8066d64d00"/>
    <p:sldId xmlns:r="http://schemas.openxmlformats.org/officeDocument/2006/relationships" id="261" r:id="R7d871dc532494fd6"/>
    <p:sldId xmlns:r="http://schemas.openxmlformats.org/officeDocument/2006/relationships" id="262" r:id="R75365aa502724280"/>
    <p:sldId xmlns:r="http://schemas.openxmlformats.org/officeDocument/2006/relationships" id="263" r:id="R663003e7f5404c4f"/>
    <p:sldId xmlns:r="http://schemas.openxmlformats.org/officeDocument/2006/relationships" id="264" r:id="R7ee6f09b33de4bc6"/>
    <p:sldId xmlns:r="http://schemas.openxmlformats.org/officeDocument/2006/relationships" id="265" r:id="R6fe35042722045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bd5fe94ac04fba" /><Relationship Type="http://schemas.openxmlformats.org/officeDocument/2006/relationships/slideMaster" Target="/ppt/slideMasters/slideMaster1.xml" Id="R2b0bdde3ef2c4c02" /><Relationship Type="http://schemas.openxmlformats.org/officeDocument/2006/relationships/notesMaster" Target="/ppt/notesMasters/notesMaster1.xml" Id="R5660bbc33450483d" /><Relationship Type="http://schemas.openxmlformats.org/officeDocument/2006/relationships/presProps" Target="/ppt/presProps.xml" Id="Ra29aafe61780493f" /><Relationship Type="http://schemas.openxmlformats.org/officeDocument/2006/relationships/tableStyles" Target="/ppt/tableStyles.xml" Id="R40ba1adb38374a63" /><Relationship Type="http://schemas.openxmlformats.org/officeDocument/2006/relationships/slide" Target="/ppt/slides/slide1.xml" Id="Rb4311d09b0dd4a0b" /><Relationship Type="http://schemas.openxmlformats.org/officeDocument/2006/relationships/slide" Target="/ppt/slides/slide2.xml" Id="Rbeac5cf7bbd6484d" /><Relationship Type="http://schemas.openxmlformats.org/officeDocument/2006/relationships/slide" Target="/ppt/slides/slide3.xml" Id="R9545e3ceb43a4b0f" /><Relationship Type="http://schemas.openxmlformats.org/officeDocument/2006/relationships/slide" Target="/ppt/slides/slide4.xml" Id="Rce2f6460df8d408b" /><Relationship Type="http://schemas.openxmlformats.org/officeDocument/2006/relationships/slide" Target="/ppt/slides/slide5.xml" Id="R14d3fe8066d64d00" /><Relationship Type="http://schemas.openxmlformats.org/officeDocument/2006/relationships/slide" Target="/ppt/slides/slide6.xml" Id="R7d871dc532494fd6" /><Relationship Type="http://schemas.openxmlformats.org/officeDocument/2006/relationships/slide" Target="/ppt/slides/slide7.xml" Id="R75365aa502724280" /><Relationship Type="http://schemas.openxmlformats.org/officeDocument/2006/relationships/slide" Target="/ppt/slides/slide8.xml" Id="R663003e7f5404c4f" /><Relationship Type="http://schemas.openxmlformats.org/officeDocument/2006/relationships/slide" Target="/ppt/slides/slide9.xml" Id="R7ee6f09b33de4bc6" /><Relationship Type="http://schemas.openxmlformats.org/officeDocument/2006/relationships/slide" Target="/ppt/slides/slide10.xml" Id="R6fe35042722045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922d08c78547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fb5901c4c244ce" /><Relationship Type="http://schemas.openxmlformats.org/officeDocument/2006/relationships/notesMaster" Target="/ppt/notesMasters/notesMaster1.xml" Id="R1f96a5a7c60a40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a5f1eaec2f4ea9" /><Relationship Type="http://schemas.openxmlformats.org/officeDocument/2006/relationships/notesMaster" Target="/ppt/notesMasters/notesMaster1.xml" Id="R902b1bd169214a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ab51e54d784d2e" /><Relationship Type="http://schemas.openxmlformats.org/officeDocument/2006/relationships/notesMaster" Target="/ppt/notesMasters/notesMaster1.xml" Id="Rf322c6a262de44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10ce5762ba4357" /><Relationship Type="http://schemas.openxmlformats.org/officeDocument/2006/relationships/notesMaster" Target="/ppt/notesMasters/notesMaster1.xml" Id="R08d22c3f74ac4c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bc9ff2db7043cc" /><Relationship Type="http://schemas.openxmlformats.org/officeDocument/2006/relationships/notesMaster" Target="/ppt/notesMasters/notesMaster1.xml" Id="R60a23279c2c147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dcbe8285dc4f27" /><Relationship Type="http://schemas.openxmlformats.org/officeDocument/2006/relationships/notesMaster" Target="/ppt/notesMasters/notesMaster1.xml" Id="R044c732a05cb4b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0098d0147b40ce" /><Relationship Type="http://schemas.openxmlformats.org/officeDocument/2006/relationships/notesMaster" Target="/ppt/notesMasters/notesMaster1.xml" Id="Re81774a913bc49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3a6a7a92ba4abf" /><Relationship Type="http://schemas.openxmlformats.org/officeDocument/2006/relationships/notesMaster" Target="/ppt/notesMasters/notesMaster1.xml" Id="R621fd0719d0c42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80f109432a44be" /><Relationship Type="http://schemas.openxmlformats.org/officeDocument/2006/relationships/notesMaster" Target="/ppt/notesMasters/notesMaster1.xml" Id="R2ae33acaa10245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750bda4b9a544b3" /><Relationship Type="http://schemas.openxmlformats.org/officeDocument/2006/relationships/notesMaster" Target="/ppt/notesMasters/notesMaster1.xml" Id="Rbe47276234bd41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Executive recommendation: evaluate a controlled £1 pilot before wider implementation. Phase 7 identifies 11 conditional raises: 10 at £1 and one at £2. Their January–December 2026 Base scenario produces £148,618 incremental net revenue and -1,209 December members versus the same no-increase counterfactual. The 95% conditional parameter range is £64,400 to £230,752. TEST FIRST gains are excluded. The planned £1 experiment tests five first-repricing pairs as primary and two repeat pairs as exploratory. Its simulated results do not establish new evidence or authorise implementation. Sources: data/gym_recommendations.csv; data/recommendation_portfolio.csv; data/experiment_estimates.csv; analysis/experiment_report.md.</a:t>
            </a:r>
          </a:p>
          <a:p xmlns:a="http://schemas.openxmlformats.org/drawingml/2006/main">
            <a:r>
              <a:t/>
            </a:r>
          </a:p>
          <a:p xmlns:a="http://schemas.openxmlformats.org/drawingml/2006/main">
            <a:r>
              <a:t>This project uses synthetic data and is inspired by the commercial economics of UK subscription fitness businesses.</a:t>
            </a:r>
          </a:p>
          <a:p xmlns:a="http://schemas.openxmlformats.org/drawingml/2006/main">
            <a:r>
              <a:t>This project uses synthetic data created for portfolio purposes. It is inspired by the economics of multi-site subscription fitness businesses and does not use confidential information from The Gym Group or any other 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2025 net revenue £107,006,934 versus £104,530,643 in 2024, a 2.37% increase. December member stock fell from 399,002 to 396,311, -0.67%. The bridge uses mean monthly average members and total ARPMM. It allocates the interaction to ARPMM: member volume -£425,764, total ARPMM £2,902,055, total change £2,476,291. Total ARPMM includes membership mix, joining fees and ancillary income. This is descriptive accounting, not a causal estimate of repricing. Churn is monthly opening-exposure-weighted, and members are stocks rather than unique people. Sources: analysis/baseline_results.json; data/estate_monthly_trend.csv.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December 2025 competitor recurring price minus Northstar Standard headline price is positive when Northstar is cheaper. 31 of 80 sites have a non-positive gap. 38 sites retain at least one baseline caution. The scatter is descriptive and does not estimate elasticity. Competitors and national-equivalent benchmarks are fictional proxies under the documented comparability assumption. Joining fees and introductory discounts remain separate. Sources: data/gym_headroom.csv; analysis/headroom_report.md.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weighted percentile score uses competitor gap 30%, low churn 25%, qualified conversion 15%, acquisition growth 15%, average monthly peak utilisation 10% and synthetic income 5%. Bands are High at 65, Medium 40 to less than 65, Low below 40. 15 sites have High scores and 5 of those retain caution flags. 51 sites change band or move at least ten ranks under an alternative. Segment precedence gives investigation priority to caution flags. This score does not estimate willingness to pay. Sources: data/gym_headroom.csv; data/headroom_sensitivity.csv; analysis/headroom_config.json.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twelve randomised pairs remain in the primary equal-pair analysis. Acquisition elasticity is -1.120, with a 95% whole-pair interval -1.902 to -0.384. It applies locally to Standard joining demand around the historical £2 policy, not to the entire member base. Cancellations and Standard-to-Off-Peak transfers are separate incumbent responses. Revenue is a control-derived six-month estimate across treated gyms. All pairs had positive pre-period gaps. Pre-trend imbalance, contemporary marketing, promotions and competitor changes limit transport. The 20 commercially selected increases stay observational and separate. Source: data/price_response_estimates.csv; analysis/response_report.md.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scenarios start from December 2025's 396,311 ledger members. New Standard joiners see the increment on 1 January; eligible incumbents see it on 1 February or later at protection expiry. Legacy differences, promotional protection and historical obligations carry forward. Q4 site levels and observed regional seasonal drivers define the common trading counterfactual. Shared historical pilot responses affect acquisition, incumbent churn and downgrades separately. The ranges preserve joint whole-pair draws and exclude future shocks and transport uncertainty. Off-Peak and Plus headline prices stay unchanged. £3 is outside the action vocabulary and gives Standard/Plus headline equality at twenty previously +£2 sites. December ×12 is a separate seasonal run-rate, not earned annual revenue. Source: data/estate_scenarios.csv; analysis/scenario_report.md.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Apply the ordered Phase 7 rules using unrounded evidence. Baseline caution or missing decision evidence gives DEFENSIVE / INVESTIGATE. Plausibility needs positive Base revenue and a non-negative post-increase competitor gap. Qualification additionally needs positive Downside revenue, a positive 95% conditional lower revenue bound, no more than 5% Downside December member loss and positive revenue in every non-zero-behaviour sensitivity. Select the qualifying increment with higher Base revenue, preferring £1 on ties. Repeat repricing sends a qualifying candidate to TEST FIRST. If neither increment is plausible, HOLD PRICE. The 5% gate is a policy assumption, distinct from experimental limits. All eighty actions remain in data/gym_recommendations.csv. Sources: data/gym_recommendations.csv; analysis/recommendation_config.json.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 conditional-raise portfolio sums only saved RAISE increments. Every other gym uses the no-increase path. Base net uplift £148,618, December member difference -1,209 (-0.31%), conditional 95% range £64,400 to £230,752. Portfolio ranges aggregate each selected site outcome within the same one of 10,000 joint draws before calculating quantiles; they never sum site endpoints. Downside and Upside use coherent shared parameter vectors, not every site's own best/worst outcome. Policy sensitivity changes judgement assumptions rather than re-estimating behaviour. TEST FIRST's provisional Base gains of £107,177 remain excluded. Source: data/recommendation_portfolio.csv; analysis/recommendation_report.md.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Seven matched same-region/same-prior-pricing pairs assign seven treatment gyms and seven controls. Five first-repricing pairs define the primary population, two repeat pairs remain exploratory, with unavailable intervals. NF023 Portsmouth and NF057 Leicester remain reserves. Notice and new-joiner prices start 1 January 2026; protected/eligible incumbent bills change from 1 February. Six-month primary decision EXTEND TEST: revenue effect 1.02%, interval -0.96% to 3.03%, one-sided exact p 0.1875, two-sided 0.375. Harm upper bounds are compared with management-assumed limits, equality passes. Twelve-month STOP arises because incumbent churn's lower bound 0.315 pp exceeds +0.250 pp. Actual five-pair exact-test planning power is 64.7% at a 2% effect; its 80%-power detectable effect is 2.74%. Minimum attainable one-sided p is 3.125%. Sources: data/experiment_estimates.csv; data/experiment_design.csv; data/experiment_power.csv; analysis/experiment_report.md.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supported: whether to resource a real controlled £1 test for comparable first-repricing sites and the investigations needed before wider implementation. Refresh site eligibility and competitor comparability using current observations, match prospectively and randomise after fixing pairs. A real calendar must replace the hypothetical 2026 programme. Keep repeat repricing exploratory and retain controls. Conduct approximately 30- and 90-day safety reviews, a six-month primary assessment and twelve-month follow-up. A rollout decision requires complete evidence, revenue lower bound above zero, primary one-sided p no more than 5%, and upper harm bounds within the 3% member, 10% Standard acquisition and +0.25 pp monthly churn/downgrade limits. Service complaints above two per 1,000 member-months or consecutive months at capacity prompt investigation. Excluded markets, repeated repricing, £2/£3 and competitor reactions need separate evidence. Finance should assess contribution costs, bad debt and collection economics before treating revenue as profit. Sources: analysis/experiment_config.json; analysis/experiment_report.md; analysis/recommendation_report.md.</a:t>
            </a:r>
          </a:p>
          <a:p xmlns:a="http://schemas.openxmlformats.org/drawingml/2006/main">
            <a:r>
              <a:t/>
            </a:r>
          </a:p>
          <a:p xmlns:a="http://schemas.openxmlformats.org/drawingml/2006/main">
            <a:r>
              <a:t>This project uses synthetic data and is inspired by the commercial economics of UK subscription fitness businesses.</a:t>
            </a:r>
          </a:p>
          <a:p xmlns:a="http://schemas.openxmlformats.org/drawingml/2006/main">
            <a:r>
              <a:t>This project uses synthetic data created for portfolio purposes. It is inspired by the economics of multi-site subscription fitness businesses and does not use confidential information from The Gym Group or any other 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4bb3d4f63b41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69bbbc30f44889" /><Relationship Type="http://schemas.openxmlformats.org/officeDocument/2006/relationships/slideLayout" Target="/ppt/slideLayouts/slideLayout1.xml" Id="R2d38961e0ce548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38961e0ce548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ac32df60b54d26" /><Relationship Type="http://schemas.openxmlformats.org/officeDocument/2006/relationships/notesSlide" Target="/ppt/notesSlides/notesSlide1.xml" Id="R13b4e87908334e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e4a6ba14a84acd" /><Relationship Type="http://schemas.openxmlformats.org/officeDocument/2006/relationships/chart" Target="/ppt/slides/charts/chart1.xml" Id="R94bd29a9049048b5" /><Relationship Type="http://schemas.openxmlformats.org/officeDocument/2006/relationships/notesSlide" Target="/ppt/notesSlides/notesSlide2.xml" Id="R0d9c90ca659c47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adbbbf80f194d67" /><Relationship Type="http://schemas.openxmlformats.org/officeDocument/2006/relationships/chart" Target="/ppt/slides/charts/chart2.xml" Id="Ra545ba038a2842c2" /><Relationship Type="http://schemas.openxmlformats.org/officeDocument/2006/relationships/notesSlide" Target="/ppt/notesSlides/notesSlide3.xml" Id="R00eec7936bfa49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f5f4f2a4c9544f9" /><Relationship Type="http://schemas.openxmlformats.org/officeDocument/2006/relationships/chart" Target="/ppt/slides/charts/chart3.xml" Id="Rdbc5f95b38c24d56" /><Relationship Type="http://schemas.openxmlformats.org/officeDocument/2006/relationships/notesSlide" Target="/ppt/notesSlides/notesSlide4.xml" Id="R0ebb6153a4784b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bd6c0679d91430a" /><Relationship Type="http://schemas.openxmlformats.org/officeDocument/2006/relationships/notesSlide" Target="/ppt/notesSlides/notesSlide5.xml" Id="R82e7a9d49b3444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864acfa2c9046d8" /><Relationship Type="http://schemas.openxmlformats.org/officeDocument/2006/relationships/notesSlide" Target="/ppt/notesSlides/notesSlide6.xml" Id="R2c9fd475d61a4f1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f76d96240d04246" /><Relationship Type="http://schemas.openxmlformats.org/officeDocument/2006/relationships/chart" Target="/ppt/slides/charts/chart4.xml" Id="R42fe0597108240a5" /><Relationship Type="http://schemas.openxmlformats.org/officeDocument/2006/relationships/notesSlide" Target="/ppt/notesSlides/notesSlide7.xml" Id="R824fa12d54fc41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0520a288c7641d4" /><Relationship Type="http://schemas.openxmlformats.org/officeDocument/2006/relationships/notesSlide" Target="/ppt/notesSlides/notesSlide8.xml" Id="R6ac28743752e40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4cb3023a99f4498" /><Relationship Type="http://schemas.openxmlformats.org/officeDocument/2006/relationships/notesSlide" Target="/ppt/notesSlides/notesSlide9.xml" Id="Rfe83bb2afbe04e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854486779324218" /><Relationship Type="http://schemas.openxmlformats.org/officeDocument/2006/relationships/notesSlide" Target="/ppt/notesSlides/notesSlide10.xml" Id="Rbd87ac7d0d7544a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Net revenue change</c:v>
          </c:tx>
          <c:spPr>
            <a:solidFill xmlns:a="http://schemas.openxmlformats.org/drawingml/2006/main">
              <a:srgbClr val="008E87"/>
            </a:solidFill>
          </c:spPr>
          <c:invertIfNegative val="0"/>
          <c:dPt>
            <c:idx val="0"/>
            <c:invertIfNegative val="0"/>
            <c:spPr>
              <a:solidFill xmlns:a="http://schemas.openxmlformats.org/drawingml/2006/main">
                <a:srgbClr val="B54452"/>
              </a:solidFill>
            </c:spPr>
          </c:dPt>
          <c:dPt>
            <c:idx val="2"/>
            <c:invertIfNegative val="0"/>
            <c:spPr>
              <a:solidFill xmlns:a="http://schemas.openxmlformats.org/drawingml/2006/main">
                <a:srgbClr val="18344B"/>
              </a:solidFill>
            </c:spPr>
          </c:dPt>
          <c:cat>
            <c:strRef>
              <c:f>'Chart Data'!$A$2:$A$4</c:f>
              <c:strCache>
                <c:ptCount val="3"/>
                <c:pt idx="0">
                  <c:v>Member volume</c:v>
                </c:pt>
                <c:pt idx="1">
                  <c:v>Total ARPMM</c:v>
                </c:pt>
                <c:pt idx="2">
                  <c:v>Net change</c:v>
                </c:pt>
              </c:strCache>
            </c:strRef>
          </c:cat>
          <c:val>
            <c:numRef>
              <c:f>'Chart Data'!$B$2:$B$4</c:f>
              <c:numCache>
                <c:formatCode>0.000</c:formatCode>
                <c:ptCount val="3"/>
                <c:pt idx="0">
                  <c:v>-0.425763940742</c:v>
                </c:pt>
                <c:pt idx="1">
                  <c:v>2.90205451074</c:v>
                </c:pt>
                <c:pt idx="2">
                  <c:v>2.47629057</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8344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8344B"/>
                </a:solidFill>
                <a:latin typeface="Arial"/>
                <a:ea typeface="Arial"/>
                <a:cs typeface="Arial"/>
              </a:defRPr>
            </a:pPr>
          </a:p>
        </c:txPr>
        <c:crossAx val="48672768"/>
      </c:catAx>
      <c:valAx>
        <c:axId val="48672768"/>
        <c:scaling>
          <c:orientation val="minMax"/>
          <c:max val="3.5"/>
          <c:min val="-1"/>
        </c:scaling>
        <c:delete val="0"/>
        <c:axPos val="l"/>
        <c:majorGridlines>
          <c:spPr>
            <a:ln xmlns:a="http://schemas.openxmlformats.org/drawingml/2006/main" w="6668">
              <a:solidFill>
                <a:srgbClr val="E7EFF2"/>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674"/>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marker"/>
        <c:ser>
          <c:idx val="0"/>
          <c:order val="0"/>
          <c:tx>
            <c:v>No baseline caution</c:v>
          </c:tx>
          <c:spPr>
            <a:solidFill xmlns:a="http://schemas.openxmlformats.org/drawingml/2006/main">
              <a:srgbClr val="008E87"/>
            </a:solidFill>
            <a:ln xmlns:a="http://schemas.openxmlformats.org/drawingml/2006/main" w="0">
              <a:noFill/>
            </a:ln>
          </c:spPr>
          <c:marker>
            <c:symbol val="circle"/>
            <c:size val="7"/>
            <c:spPr>
              <a:noFill xmlns:a="http://schemas.openxmlformats.org/drawingml/2006/main"/>
            </c:spPr>
          </c:marker>
          <c:xVal>
            <c:numRef>
              <c:f>'Chart Data'!$A$2:$A$43</c:f>
              <c:numCache>
                <c:formatCode>General</c:formatCode>
                <c:ptCount val="42"/>
                <c:pt idx="0">
                  <c:v>0.34333333</c:v>
                </c:pt>
                <c:pt idx="1">
                  <c:v>0.45</c:v>
                </c:pt>
                <c:pt idx="2">
                  <c:v>-0.426</c:v>
                </c:pt>
                <c:pt idx="3">
                  <c:v>0.454</c:v>
                </c:pt>
                <c:pt idx="4">
                  <c:v>-0.08666667</c:v>
                </c:pt>
                <c:pt idx="5">
                  <c:v>3.08333333</c:v>
                </c:pt>
                <c:pt idx="6">
                  <c:v>0.3425</c:v>
                </c:pt>
                <c:pt idx="7">
                  <c:v>-0.18</c:v>
                </c:pt>
                <c:pt idx="8">
                  <c:v>-1.9</c:v>
                </c:pt>
                <c:pt idx="9">
                  <c:v>3.26333333</c:v>
                </c:pt>
                <c:pt idx="10">
                  <c:v>1.304</c:v>
                </c:pt>
                <c:pt idx="11">
                  <c:v>-0.582</c:v>
                </c:pt>
                <c:pt idx="12">
                  <c:v>1.568</c:v>
                </c:pt>
                <c:pt idx="13">
                  <c:v>3.8875</c:v>
                </c:pt>
                <c:pt idx="14">
                  <c:v>-0.664</c:v>
                </c:pt>
                <c:pt idx="15">
                  <c:v>-0.95</c:v>
                </c:pt>
                <c:pt idx="16">
                  <c:v>2.326</c:v>
                </c:pt>
                <c:pt idx="17">
                  <c:v>1.05333333</c:v>
                </c:pt>
                <c:pt idx="18">
                  <c:v>-0.7275</c:v>
                </c:pt>
                <c:pt idx="19">
                  <c:v>-0.5975</c:v>
                </c:pt>
                <c:pt idx="20">
                  <c:v>-1.2225</c:v>
                </c:pt>
                <c:pt idx="21">
                  <c:v>1.01</c:v>
                </c:pt>
                <c:pt idx="22">
                  <c:v>2.602</c:v>
                </c:pt>
                <c:pt idx="23">
                  <c:v>0.38666667</c:v>
                </c:pt>
                <c:pt idx="24">
                  <c:v>-1.895</c:v>
                </c:pt>
                <c:pt idx="25">
                  <c:v>-4.13</c:v>
                </c:pt>
                <c:pt idx="26">
                  <c:v>0.09666667</c:v>
                </c:pt>
                <c:pt idx="27">
                  <c:v>2.69</c:v>
                </c:pt>
                <c:pt idx="28">
                  <c:v>3.082</c:v>
                </c:pt>
                <c:pt idx="29">
                  <c:v>-0.4725</c:v>
                </c:pt>
                <c:pt idx="30">
                  <c:v>0.54</c:v>
                </c:pt>
                <c:pt idx="31">
                  <c:v>1.494</c:v>
                </c:pt>
                <c:pt idx="32">
                  <c:v>-0.11</c:v>
                </c:pt>
                <c:pt idx="33">
                  <c:v>0.535</c:v>
                </c:pt>
                <c:pt idx="34">
                  <c:v>-0.71</c:v>
                </c:pt>
                <c:pt idx="35">
                  <c:v>-4.44333333</c:v>
                </c:pt>
                <c:pt idx="36">
                  <c:v>1</c:v>
                </c:pt>
                <c:pt idx="37">
                  <c:v>0.71333333</c:v>
                </c:pt>
                <c:pt idx="38">
                  <c:v>1.045</c:v>
                </c:pt>
                <c:pt idx="39">
                  <c:v>1.656</c:v>
                </c:pt>
                <c:pt idx="40">
                  <c:v>1.23666667</c:v>
                </c:pt>
                <c:pt idx="41">
                  <c:v>0.18666667</c:v>
                </c:pt>
              </c:numCache>
            </c:numRef>
          </c:xVal>
          <c:yVal>
            <c:numRef>
              <c:f>'Chart Data'!$B$2:$B$43</c:f>
              <c:numCache>
                <c:formatCode>0.0%</c:formatCode>
                <c:ptCount val="42"/>
                <c:pt idx="0">
                  <c:v>0.04518051279</c:v>
                </c:pt>
                <c:pt idx="1">
                  <c:v>0.043950870294</c:v>
                </c:pt>
                <c:pt idx="2">
                  <c:v>0.042855771999</c:v>
                </c:pt>
                <c:pt idx="3">
                  <c:v>0.039327272542</c:v>
                </c:pt>
                <c:pt idx="4">
                  <c:v>0.04517598267</c:v>
                </c:pt>
                <c:pt idx="5">
                  <c:v>0.04567820108</c:v>
                </c:pt>
                <c:pt idx="6">
                  <c:v>0.044467175432</c:v>
                </c:pt>
                <c:pt idx="7">
                  <c:v>0.040241504417</c:v>
                </c:pt>
                <c:pt idx="8">
                  <c:v>0.040153022188</c:v>
                </c:pt>
                <c:pt idx="9">
                  <c:v>0.041909136433</c:v>
                </c:pt>
                <c:pt idx="10">
                  <c:v>0.043639328984</c:v>
                </c:pt>
                <c:pt idx="11">
                  <c:v>0.046585891305</c:v>
                </c:pt>
                <c:pt idx="12">
                  <c:v>0.043014475193</c:v>
                </c:pt>
                <c:pt idx="13">
                  <c:v>0.044210466729</c:v>
                </c:pt>
                <c:pt idx="14">
                  <c:v>0.040000829463</c:v>
                </c:pt>
                <c:pt idx="15">
                  <c:v>0.047880633551</c:v>
                </c:pt>
                <c:pt idx="16">
                  <c:v>0.04646111853</c:v>
                </c:pt>
                <c:pt idx="17">
                  <c:v>0.044133741317</c:v>
                </c:pt>
                <c:pt idx="18">
                  <c:v>0.03708686647</c:v>
                </c:pt>
                <c:pt idx="19">
                  <c:v>0.044530577089</c:v>
                </c:pt>
                <c:pt idx="20">
                  <c:v>0.040918245715</c:v>
                </c:pt>
                <c:pt idx="21">
                  <c:v>0.038392944635</c:v>
                </c:pt>
                <c:pt idx="22">
                  <c:v>0.046180330323</c:v>
                </c:pt>
                <c:pt idx="23">
                  <c:v>0.040509137619</c:v>
                </c:pt>
                <c:pt idx="24">
                  <c:v>0.045638877809</c:v>
                </c:pt>
                <c:pt idx="25">
                  <c:v>0.046261260548</c:v>
                </c:pt>
                <c:pt idx="26">
                  <c:v>0.03691970017</c:v>
                </c:pt>
                <c:pt idx="27">
                  <c:v>0.043638236809</c:v>
                </c:pt>
                <c:pt idx="28">
                  <c:v>0.043474122546</c:v>
                </c:pt>
                <c:pt idx="29">
                  <c:v>0.041893316819</c:v>
                </c:pt>
                <c:pt idx="30">
                  <c:v>0.037972398299</c:v>
                </c:pt>
                <c:pt idx="31">
                  <c:v>0.04611426702</c:v>
                </c:pt>
                <c:pt idx="32">
                  <c:v>0.043884954979</c:v>
                </c:pt>
                <c:pt idx="33">
                  <c:v>0.046572032619</c:v>
                </c:pt>
                <c:pt idx="34">
                  <c:v>0.046601859857</c:v>
                </c:pt>
                <c:pt idx="35">
                  <c:v>0.040930282988</c:v>
                </c:pt>
                <c:pt idx="36">
                  <c:v>0.044365510517</c:v>
                </c:pt>
                <c:pt idx="37">
                  <c:v>0.042324548238</c:v>
                </c:pt>
                <c:pt idx="38">
                  <c:v>0.033320927381</c:v>
                </c:pt>
                <c:pt idx="39">
                  <c:v>0.04339437139</c:v>
                </c:pt>
                <c:pt idx="40">
                  <c:v>0.044895034146</c:v>
                </c:pt>
                <c:pt idx="41">
                  <c:v>0.042613280652</c:v>
                </c:pt>
              </c:numCache>
            </c:numRef>
          </c:yVal>
        </c:ser>
        <c:ser>
          <c:idx val="1"/>
          <c:order val="1"/>
          <c:tx>
            <c:v>Baseline caution</c:v>
          </c:tx>
          <c:spPr>
            <a:solidFill xmlns:a="http://schemas.openxmlformats.org/drawingml/2006/main">
              <a:srgbClr val="B54452"/>
            </a:solidFill>
            <a:ln xmlns:a="http://schemas.openxmlformats.org/drawingml/2006/main" w="0">
              <a:noFill/>
            </a:ln>
          </c:spPr>
          <c:marker>
            <c:symbol val="circle"/>
            <c:size val="7"/>
            <c:spPr>
              <a:noFill xmlns:a="http://schemas.openxmlformats.org/drawingml/2006/main"/>
            </c:spPr>
          </c:marker>
          <c:xVal>
            <c:numRef>
              <c:f>'Chart Data'!$C$2:$C$39</c:f>
              <c:numCache>
                <c:formatCode>General</c:formatCode>
                <c:ptCount val="38"/>
                <c:pt idx="0">
                  <c:v>-0.20166667</c:v>
                </c:pt>
                <c:pt idx="1">
                  <c:v>0.85</c:v>
                </c:pt>
                <c:pt idx="2">
                  <c:v>0.21666667</c:v>
                </c:pt>
                <c:pt idx="3">
                  <c:v>-0.186</c:v>
                </c:pt>
                <c:pt idx="4">
                  <c:v>-0.166</c:v>
                </c:pt>
                <c:pt idx="5">
                  <c:v>1.85833333</c:v>
                </c:pt>
                <c:pt idx="6">
                  <c:v>-0.666</c:v>
                </c:pt>
                <c:pt idx="7">
                  <c:v>1.6225</c:v>
                </c:pt>
                <c:pt idx="8">
                  <c:v>2.684</c:v>
                </c:pt>
                <c:pt idx="9">
                  <c:v>-0.616</c:v>
                </c:pt>
                <c:pt idx="10">
                  <c:v>-0.65</c:v>
                </c:pt>
                <c:pt idx="11">
                  <c:v>1.0875</c:v>
                </c:pt>
                <c:pt idx="12">
                  <c:v>1.185</c:v>
                </c:pt>
                <c:pt idx="13">
                  <c:v>-0.425</c:v>
                </c:pt>
                <c:pt idx="14">
                  <c:v>1.685</c:v>
                </c:pt>
                <c:pt idx="15">
                  <c:v>-0.222</c:v>
                </c:pt>
                <c:pt idx="16">
                  <c:v>2.8975</c:v>
                </c:pt>
                <c:pt idx="17">
                  <c:v>1.666</c:v>
                </c:pt>
                <c:pt idx="18">
                  <c:v>0.792</c:v>
                </c:pt>
                <c:pt idx="19">
                  <c:v>-1.7975</c:v>
                </c:pt>
                <c:pt idx="20">
                  <c:v>-0.705</c:v>
                </c:pt>
                <c:pt idx="21">
                  <c:v>2.5075</c:v>
                </c:pt>
                <c:pt idx="22">
                  <c:v>0.74</c:v>
                </c:pt>
                <c:pt idx="23">
                  <c:v>-0.33666667</c:v>
                </c:pt>
                <c:pt idx="24">
                  <c:v>1.9675</c:v>
                </c:pt>
                <c:pt idx="25">
                  <c:v>-1.012</c:v>
                </c:pt>
                <c:pt idx="26">
                  <c:v>0.506</c:v>
                </c:pt>
                <c:pt idx="27">
                  <c:v>0.96666667</c:v>
                </c:pt>
                <c:pt idx="28">
                  <c:v>-1.268</c:v>
                </c:pt>
                <c:pt idx="29">
                  <c:v>2.66</c:v>
                </c:pt>
                <c:pt idx="30">
                  <c:v>1.542</c:v>
                </c:pt>
                <c:pt idx="31">
                  <c:v>0.23</c:v>
                </c:pt>
                <c:pt idx="32">
                  <c:v>-0.144</c:v>
                </c:pt>
                <c:pt idx="33">
                  <c:v>0.905</c:v>
                </c:pt>
                <c:pt idx="34">
                  <c:v>1.05</c:v>
                </c:pt>
                <c:pt idx="35">
                  <c:v>1.464</c:v>
                </c:pt>
                <c:pt idx="36">
                  <c:v>-2.975</c:v>
                </c:pt>
                <c:pt idx="37">
                  <c:v>1.95</c:v>
                </c:pt>
              </c:numCache>
            </c:numRef>
          </c:xVal>
          <c:yVal>
            <c:numRef>
              <c:f>'Chart Data'!$D$2:$D$39</c:f>
              <c:numCache>
                <c:formatCode>0.0%</c:formatCode>
                <c:ptCount val="38"/>
                <c:pt idx="0">
                  <c:v>0.046794933772</c:v>
                </c:pt>
                <c:pt idx="1">
                  <c:v>0.056504933374</c:v>
                </c:pt>
                <c:pt idx="2">
                  <c:v>0.040383676099</c:v>
                </c:pt>
                <c:pt idx="3">
                  <c:v>0.040093169414</c:v>
                </c:pt>
                <c:pt idx="4">
                  <c:v>0.048837700265</c:v>
                </c:pt>
                <c:pt idx="5">
                  <c:v>0.049859921231</c:v>
                </c:pt>
                <c:pt idx="6">
                  <c:v>0.044087206948</c:v>
                </c:pt>
                <c:pt idx="7">
                  <c:v>0.050814039745</c:v>
                </c:pt>
                <c:pt idx="8">
                  <c:v>0.049146863386</c:v>
                </c:pt>
                <c:pt idx="9">
                  <c:v>0.049783219345</c:v>
                </c:pt>
                <c:pt idx="10">
                  <c:v>0.055541821178</c:v>
                </c:pt>
                <c:pt idx="11">
                  <c:v>0.051940837442</c:v>
                </c:pt>
                <c:pt idx="12">
                  <c:v>0.043838652482</c:v>
                </c:pt>
                <c:pt idx="13">
                  <c:v>0.055409898496</c:v>
                </c:pt>
                <c:pt idx="14">
                  <c:v>0.048911103177</c:v>
                </c:pt>
                <c:pt idx="15">
                  <c:v>0.043972525049</c:v>
                </c:pt>
                <c:pt idx="16">
                  <c:v>0.04309139065</c:v>
                </c:pt>
                <c:pt idx="17">
                  <c:v>0.04811191613</c:v>
                </c:pt>
                <c:pt idx="18">
                  <c:v>0.051849306883</c:v>
                </c:pt>
                <c:pt idx="19">
                  <c:v>0.045952168397</c:v>
                </c:pt>
                <c:pt idx="20">
                  <c:v>0.045508827421</c:v>
                </c:pt>
                <c:pt idx="21">
                  <c:v>0.039914363236</c:v>
                </c:pt>
                <c:pt idx="22">
                  <c:v>0.053406219036</c:v>
                </c:pt>
                <c:pt idx="23">
                  <c:v>0.045042016807</c:v>
                </c:pt>
                <c:pt idx="24">
                  <c:v>0.052758396715</c:v>
                </c:pt>
                <c:pt idx="25">
                  <c:v>0.047886385803</c:v>
                </c:pt>
                <c:pt idx="26">
                  <c:v>0.050646383885</c:v>
                </c:pt>
                <c:pt idx="27">
                  <c:v>0.04805719346</c:v>
                </c:pt>
                <c:pt idx="28">
                  <c:v>0.04499069572</c:v>
                </c:pt>
                <c:pt idx="29">
                  <c:v>0.040895844403</c:v>
                </c:pt>
                <c:pt idx="30">
                  <c:v>0.050337584396</c:v>
                </c:pt>
                <c:pt idx="31">
                  <c:v>0.041708401152</c:v>
                </c:pt>
                <c:pt idx="32">
                  <c:v>0.05209976636</c:v>
                </c:pt>
                <c:pt idx="33">
                  <c:v>0.044404559334</c:v>
                </c:pt>
                <c:pt idx="34">
                  <c:v>0.051571786049</c:v>
                </c:pt>
                <c:pt idx="35">
                  <c:v>0.044513501929</c:v>
                </c:pt>
                <c:pt idx="36">
                  <c:v>0.053965673324</c:v>
                </c:pt>
                <c:pt idx="37">
                  <c:v>0.038742422555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65"/>
          <c:min val="0.025"/>
        </c:scaling>
        <c:delete val="0"/>
        <c:axPos val="l"/>
        <c:majorGridlines>
          <c:spPr>
            <a:ln xmlns:a="http://schemas.openxmlformats.org/drawingml/2006/main" w="5715">
              <a:solidFill>
                <a:srgbClr val="E7EFF2"/>
              </a:solidFill>
            </a:ln>
          </c:spPr>
        </c:majorGridlines>
        <c:title>
          <c:tx>
            <c:rich>
              <a:bodyPr xmlns:a="http://schemas.openxmlformats.org/drawingml/2006/main"/>
              <a:lstStyle xmlns:a="http://schemas.openxmlformats.org/drawingml/2006/main"/>
              <a:p xmlns:a="http://schemas.openxmlformats.org/drawingml/2006/main">
                <a:r>
                  <a:rPr sz="1500">
                    <a:solidFill>
                      <a:srgbClr val="18344B"/>
                    </a:solidFill>
                    <a:latin typeface="Arial"/>
                    <a:ea typeface="Arial"/>
                    <a:cs typeface="Arial"/>
                  </a:rPr>
                  <a:t>Monthly opening-base churn</a:t>
                </a:r>
              </a:p>
            </c:rich>
          </c:tx>
          <c:overlay val="0"/>
          <c:txPr>
            <a:bodyPr xmlns:a="http://schemas.openxmlformats.org/drawingml/2006/main" anchorCtr="1"/>
            <a:lstStyle xmlns:a="http://schemas.openxmlformats.org/drawingml/2006/main"/>
            <a:p xmlns:a="http://schemas.openxmlformats.org/drawingml/2006/main">
              <a:pPr>
                <a:defRPr sz="1500">
                  <a:solidFill>
                    <a:srgbClr val="18344B"/>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674"/>
                </a:solidFill>
                <a:latin typeface="Arial"/>
                <a:ea typeface="Arial"/>
                <a:cs typeface="Arial"/>
              </a:defRPr>
            </a:pPr>
          </a:p>
        </c:txPr>
        <c:crossAx val="48650112"/>
        <c:majorUnit val="0.01"/>
      </c:valAx>
      <c:valAx>
        <c:axId val="48650112"/>
        <c:scaling>
          <c:orientation val="minMax"/>
          <c:max val="4"/>
          <c:min val="-5"/>
        </c:scaling>
        <c:delete val="0"/>
        <c:axPos val="b"/>
        <c:majorGridlines>
          <c:spPr>
            <a:ln xmlns:a="http://schemas.openxmlformats.org/drawingml/2006/main" w="5715">
              <a:solidFill>
                <a:srgbClr val="E7EFF2"/>
              </a:solidFill>
            </a:ln>
          </c:spPr>
        </c:majorGridlines>
        <c:title>
          <c:tx>
            <c:rich>
              <a:bodyPr xmlns:a="http://schemas.openxmlformats.org/drawingml/2006/main"/>
              <a:lstStyle xmlns:a="http://schemas.openxmlformats.org/drawingml/2006/main"/>
              <a:p xmlns:a="http://schemas.openxmlformats.org/drawingml/2006/main">
                <a:r>
                  <a:rPr sz="1500">
                    <a:solidFill>
                      <a:srgbClr val="18344B"/>
                    </a:solidFill>
                    <a:latin typeface="Arial"/>
                    <a:ea typeface="Arial"/>
                    <a:cs typeface="Arial"/>
                  </a:rPr>
                  <a:t>Competitor gap, £</a:t>
                </a:r>
              </a:p>
            </c:rich>
          </c:tx>
          <c:overlay val="0"/>
          <c:txPr>
            <a:bodyPr xmlns:a="http://schemas.openxmlformats.org/drawingml/2006/main" anchorCtr="1"/>
            <a:lstStyle xmlns:a="http://schemas.openxmlformats.org/drawingml/2006/main"/>
            <a:p xmlns:a="http://schemas.openxmlformats.org/drawingml/2006/main">
              <a:pPr>
                <a:defRPr sz="1500">
                  <a:solidFill>
                    <a:srgbClr val="18344B"/>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674"/>
                </a:solidFill>
                <a:latin typeface="Arial"/>
                <a:ea typeface="Arial"/>
                <a:cs typeface="Arial"/>
              </a:defRPr>
            </a:pPr>
          </a:p>
        </c:txPr>
        <c:crossAx val="48672768"/>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36674"/>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Gyms</c:v>
          </c:tx>
          <c:spPr>
            <a:solidFill xmlns:a="http://schemas.openxmlformats.org/drawingml/2006/main">
              <a:srgbClr val="008E87"/>
            </a:solidFill>
          </c:spPr>
          <c:dPt>
            <c:idx val="1"/>
            <c:invertIfNegative val="0"/>
            <c:spPr>
              <a:solidFill xmlns:a="http://schemas.openxmlformats.org/drawingml/2006/main">
                <a:srgbClr val="597286"/>
              </a:solidFill>
            </c:spPr>
          </c:dPt>
          <c:dPt>
            <c:idx val="2"/>
            <c:invertIfNegative val="0"/>
            <c:spPr>
              <a:solidFill xmlns:a="http://schemas.openxmlformats.org/drawingml/2006/main">
                <a:srgbClr val="9B6700"/>
              </a:solidFill>
            </c:spPr>
          </c:dPt>
          <c:dPt>
            <c:idx val="3"/>
            <c:invertIfNegative val="0"/>
            <c:spPr>
              <a:solidFill xmlns:a="http://schemas.openxmlformats.org/drawingml/2006/main">
                <a:srgbClr val="B54452"/>
              </a:solidFill>
            </c:spPr>
          </c:dPt>
          <c:cat>
            <c:strRef>
              <c:f>'Chart Data'!$A$2:$A$5</c:f>
              <c:strCache>
                <c:ptCount val="4"/>
                <c:pt idx="0">
                  <c:v>Stronger headroom</c:v>
                </c:pt>
                <c:pt idx="1">
                  <c:v>Mixed</c:v>
                </c:pt>
                <c:pt idx="2">
                  <c:v>Limited headroom</c:v>
                </c:pt>
                <c:pt idx="3">
                  <c:v>Investigation priority</c:v>
                </c:pt>
              </c:strCache>
            </c:strRef>
          </c:cat>
          <c:val>
            <c:numRef>
              <c:f>'Chart Data'!$B$2:$B$5</c:f>
              <c:numCache>
                <c:formatCode>0</c:formatCode>
                <c:ptCount val="4"/>
                <c:pt idx="0">
                  <c:v>10</c:v>
                </c:pt>
                <c:pt idx="1">
                  <c:v>16</c:v>
                </c:pt>
                <c:pt idx="2">
                  <c:v>16</c:v>
                </c:pt>
                <c:pt idx="3">
                  <c:v>38</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8344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8344B"/>
                </a:solidFill>
                <a:latin typeface="Arial"/>
                <a:ea typeface="Arial"/>
                <a:cs typeface="Arial"/>
              </a:defRPr>
            </a:pPr>
          </a:p>
        </c:txPr>
        <c:crossAx val="48672768"/>
      </c:catAx>
      <c:valAx>
        <c:axId val="48672768"/>
        <c:scaling>
          <c:orientation val="minMax"/>
          <c:max val="45"/>
          <c:min val="0"/>
        </c:scaling>
        <c:delete val="0"/>
        <c:axPos val="b"/>
        <c:majorGridlines>
          <c:spPr>
            <a:ln xmlns:a="http://schemas.openxmlformats.org/drawingml/2006/main" w="5715">
              <a:solidFill>
                <a:srgbClr val="E7EFF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674"/>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Gyms</c:v>
          </c:tx>
          <c:spPr>
            <a:solidFill xmlns:a="http://schemas.openxmlformats.org/drawingml/2006/main">
              <a:srgbClr val="008E87"/>
            </a:solidFill>
          </c:spPr>
          <c:dPt>
            <c:idx val="2"/>
            <c:invertIfNegative val="0"/>
            <c:spPr>
              <a:solidFill xmlns:a="http://schemas.openxmlformats.org/drawingml/2006/main">
                <a:srgbClr val="9B6700"/>
              </a:solidFill>
            </c:spPr>
          </c:dPt>
          <c:dPt>
            <c:idx val="3"/>
            <c:invertIfNegative val="0"/>
            <c:spPr>
              <a:solidFill xmlns:a="http://schemas.openxmlformats.org/drawingml/2006/main">
                <a:srgbClr val="597286"/>
              </a:solidFill>
            </c:spPr>
          </c:dPt>
          <c:dPt>
            <c:idx val="4"/>
            <c:invertIfNegative val="0"/>
            <c:spPr>
              <a:solidFill xmlns:a="http://schemas.openxmlformats.org/drawingml/2006/main">
                <a:srgbClr val="B54452"/>
              </a:solidFill>
            </c:spPr>
          </c:dPt>
          <c:cat>
            <c:strRef>
              <c:f>'Chart Data'!$A$2:$A$6</c:f>
              <c:strCache>
                <c:ptCount val="5"/>
                <c:pt idx="0">
                  <c:v>Raise £2</c:v>
                </c:pt>
                <c:pt idx="1">
                  <c:v>Raise £1</c:v>
                </c:pt>
                <c:pt idx="2">
                  <c:v>Test first</c:v>
                </c:pt>
                <c:pt idx="3">
                  <c:v>Hold price</c:v>
                </c:pt>
                <c:pt idx="4">
                  <c:v>Investigate</c:v>
                </c:pt>
              </c:strCache>
            </c:strRef>
          </c:cat>
          <c:val>
            <c:numRef>
              <c:f>'Chart Data'!$B$2:$B$6</c:f>
              <c:numCache>
                <c:formatCode>0</c:formatCode>
                <c:ptCount val="5"/>
                <c:pt idx="0">
                  <c:v>1</c:v>
                </c:pt>
                <c:pt idx="1">
                  <c:v>10</c:v>
                </c:pt>
                <c:pt idx="2">
                  <c:v>5</c:v>
                </c:pt>
                <c:pt idx="3">
                  <c:v>26</c:v>
                </c:pt>
                <c:pt idx="4">
                  <c:v>38</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8344B"/>
                  </a:solidFill>
                  <a:latin typeface="Arial"/>
                  <a:ea typeface="Arial"/>
                  <a:cs typeface="Arial"/>
                </a:defRPr>
              </a:pPr>
            </a:p>
          </c:txPr>
          <c:dLblPos val="outEnd"/>
          <c:showLegendKey val="0"/>
          <c:showVal val="1"/>
          <c:showCatName val="0"/>
          <c:showSerName val="0"/>
          <c:showPercent val="0"/>
          <c:showBubbleSize val="0"/>
          <c:showLeaderLines val="0"/>
        </c:dLbls>
        <c:gapWidth val="6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344B"/>
                </a:solidFill>
                <a:latin typeface="Arial"/>
                <a:ea typeface="Arial"/>
                <a:cs typeface="Arial"/>
              </a:defRPr>
            </a:pPr>
          </a:p>
        </c:txPr>
        <c:crossAx val="48672768"/>
      </c:catAx>
      <c:valAx>
        <c:axId val="48672768"/>
        <c:scaling>
          <c:orientation val="minMax"/>
          <c:max val="45"/>
          <c:min val="0"/>
        </c:scaling>
        <c:delete val="0"/>
        <c:axPos val="b"/>
        <c:majorGridlines>
          <c:spPr>
            <a:ln xmlns:a="http://schemas.openxmlformats.org/drawingml/2006/main" w="5715">
              <a:solidFill>
                <a:srgbClr val="E7EFF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674"/>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44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8597F9-E85E-4EF2-8D31-4D54BBE12E5F}"/>
              </a:ext>
            </a:extLst>
          </p:cNvPr>
          <p:cNvSpPr>
            <a:spLocks xmlns:a="http://schemas.openxmlformats.org/drawingml/2006/main" noGrp="1"/>
          </p:cNvSpPr>
          <p:nvPr/>
        </p:nvSpPr>
        <p:spPr>
          <a:xfrm xmlns:a="http://schemas.openxmlformats.org/drawingml/2006/main">
            <a:off x="609600" y="4381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72D3C9"/>
                </a:solidFill>
                <a:latin typeface="Arial"/>
                <a:ea typeface="Arial"/>
                <a:cs typeface="Arial"/>
              </a:defRPr>
            </a:pPr>
            <a:r>
              <a:rPr sz="1725" b="1">
                <a:solidFill>
                  <a:srgbClr val="72D3C9"/>
                </a:solidFill>
                <a:latin typeface="Arial"/>
                <a:ea typeface="Arial"/>
                <a:cs typeface="Arial"/>
              </a:rPr>
              <a:t>NORTHSTAR FITNESS</a:t>
            </a:r>
          </a:p>
        </p:txBody>
      </p:sp>
      <p:sp>
        <p:nvSpPr>
          <p:cNvPr id="2" name="">
            <a:extLst xmlns:a="http://schemas.openxmlformats.org/drawingml/2006/main">
              <a:ext uri="{FF2B5EF4-FFF2-40B4-BE49-F238E27FC236}">
                <a16:creationId xmlns:a16="http://schemas.microsoft.com/office/drawing/2014/main" id="{313CDE64-01EC-4A68-BB9D-E4A3F941715C}"/>
              </a:ext>
            </a:extLst>
          </p:cNvPr>
          <p:cNvSpPr>
            <a:spLocks xmlns:a="http://schemas.openxmlformats.org/drawingml/2006/main" noGrp="1"/>
          </p:cNvSpPr>
          <p:nvPr/>
        </p:nvSpPr>
        <p:spPr>
          <a:xfrm xmlns:a="http://schemas.openxmlformats.org/drawingml/2006/main">
            <a:off x="609600" y="1114425"/>
            <a:ext cx="10572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UK Gym Pricing &amp;</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Revenue Optimisation</a:t>
            </a:r>
          </a:p>
        </p:txBody>
      </p:sp>
      <p:sp>
        <p:nvSpPr>
          <p:cNvPr id="3" name="">
            <a:extLst xmlns:a="http://schemas.openxmlformats.org/drawingml/2006/main">
              <a:ext uri="{FF2B5EF4-FFF2-40B4-BE49-F238E27FC236}">
                <a16:creationId xmlns:a16="http://schemas.microsoft.com/office/drawing/2014/main" id="{1692C002-0097-4FC4-AD4A-C834243EAE01}"/>
              </a:ext>
            </a:extLst>
          </p:cNvPr>
          <p:cNvSpPr>
            <a:spLocks xmlns:a="http://schemas.openxmlformats.org/drawingml/2006/main" noGrp="1"/>
          </p:cNvSpPr>
          <p:nvPr/>
        </p:nvSpPr>
        <p:spPr>
          <a:xfrm xmlns:a="http://schemas.openxmlformats.org/drawingml/2006/main">
            <a:off x="609600" y="2905125"/>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D8E8EE"/>
                </a:solidFill>
                <a:latin typeface="Arial"/>
                <a:ea typeface="Arial"/>
                <a:cs typeface="Arial"/>
              </a:defRPr>
            </a:pPr>
            <a:r>
              <a:rPr sz="1875" b="0">
                <a:solidFill>
                  <a:srgbClr val="D8E8EE"/>
                </a:solidFill>
                <a:latin typeface="Arial"/>
                <a:ea typeface="Arial"/>
                <a:cs typeface="Arial"/>
              </a:rPr>
              <a:t>Identifying Site-Level Pricing Headroom Across an 80-Gym Estate</a:t>
            </a:r>
          </a:p>
        </p:txBody>
      </p:sp>
      <p:sp>
        <p:nvSpPr>
          <p:cNvPr id="4" name="">
            <a:extLst xmlns:a="http://schemas.openxmlformats.org/drawingml/2006/main">
              <a:ext uri="{FF2B5EF4-FFF2-40B4-BE49-F238E27FC236}">
                <a16:creationId xmlns:a16="http://schemas.microsoft.com/office/drawing/2014/main" id="{7A61D105-9ED9-4D94-B85A-2CBD1DBF7CDC}"/>
              </a:ext>
            </a:extLst>
          </p:cNvPr>
          <p:cNvSpPr>
            <a:spLocks xmlns:a="http://schemas.openxmlformats.org/drawingml/2006/main" noGrp="1"/>
          </p:cNvSpPr>
          <p:nvPr/>
        </p:nvSpPr>
        <p:spPr>
          <a:xfrm xmlns:a="http://schemas.openxmlformats.org/drawingml/2006/main">
            <a:off x="609600" y="38290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A controlled £1 pilot precedes wider price increases</a:t>
            </a:r>
          </a:p>
        </p:txBody>
      </p:sp>
      <p:sp>
        <p:nvSpPr>
          <p:cNvPr id="5" name="">
            <a:extLst xmlns:a="http://schemas.openxmlformats.org/drawingml/2006/main">
              <a:ext uri="{FF2B5EF4-FFF2-40B4-BE49-F238E27FC236}">
                <a16:creationId xmlns:a16="http://schemas.microsoft.com/office/drawing/2014/main" id="{1708EC6C-F3FD-4CA7-8278-D9E9AB422451}"/>
              </a:ext>
            </a:extLst>
          </p:cNvPr>
          <p:cNvSpPr>
            <a:spLocks xmlns:a="http://schemas.openxmlformats.org/drawingml/2006/main" noGrp="1"/>
          </p:cNvSpPr>
          <p:nvPr/>
        </p:nvSpPr>
        <p:spPr>
          <a:xfrm xmlns:a="http://schemas.openxmlformats.org/drawingml/2006/main">
            <a:off x="609600" y="48577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72D3C9"/>
                </a:solidFill>
                <a:latin typeface="Arial"/>
                <a:ea typeface="Arial"/>
                <a:cs typeface="Arial"/>
              </a:defRPr>
            </a:pPr>
            <a:r>
              <a:rPr sz="2325" b="0">
                <a:solidFill>
                  <a:srgbClr val="72D3C9"/>
                </a:solidFill>
                <a:latin typeface="Arial"/>
                <a:ea typeface="Arial"/>
                <a:cs typeface="Arial"/>
              </a:rPr>
              <a:t>£149k modelled annual uplift across 11 conditional raises</a:t>
            </a:r>
          </a:p>
        </p:txBody>
      </p:sp>
      <p:sp>
        <p:nvSpPr>
          <p:cNvPr id="6" name="">
            <a:extLst xmlns:a="http://schemas.openxmlformats.org/drawingml/2006/main">
              <a:ext uri="{FF2B5EF4-FFF2-40B4-BE49-F238E27FC236}">
                <a16:creationId xmlns:a16="http://schemas.microsoft.com/office/drawing/2014/main" id="{A3C09FF9-2B11-40E9-AD14-F85B1AF239C7}"/>
              </a:ext>
            </a:extLst>
          </p:cNvPr>
          <p:cNvSpPr>
            <a:spLocks xmlns:a="http://schemas.openxmlformats.org/drawingml/2006/main" noGrp="1"/>
          </p:cNvSpPr>
          <p:nvPr/>
        </p:nvSpPr>
        <p:spPr>
          <a:xfrm xmlns:a="http://schemas.openxmlformats.org/drawingml/2006/main">
            <a:off x="609600" y="5715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D8E8EE"/>
                </a:solidFill>
                <a:latin typeface="Arial"/>
                <a:ea typeface="Arial"/>
                <a:cs typeface="Arial"/>
              </a:defRPr>
            </a:pPr>
            <a:r>
              <a:rPr sz="1650" b="0">
                <a:solidFill>
                  <a:srgbClr val="D8E8EE"/>
                </a:solidFill>
                <a:latin typeface="Arial"/>
                <a:ea typeface="Arial"/>
                <a:cs typeface="Arial"/>
              </a:rPr>
              <a:t>Hypothetical 2026 assessment. Controlled testing remains a condition of implementation.</a:t>
            </a:r>
          </a:p>
        </p:txBody>
      </p:sp>
    </p:spTree>
    <p:extLst>
      <p:ext uri="{BB962C8B-B14F-4D97-AF65-F5344CB8AC3E}">
        <p14:creationId xmlns:p14="http://schemas.microsoft.com/office/powerpoint/2010/main" val="1756874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82E6256-2CEB-4307-A38B-56CD4FD8B894}"/>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8344B"/>
                </a:solidFill>
                <a:latin typeface="Arial"/>
                <a:ea typeface="Arial"/>
                <a:cs typeface="Arial"/>
              </a:defRPr>
            </a:pPr>
            <a:r>
              <a:rPr sz="3225" b="1">
                <a:solidFill>
                  <a:srgbClr val="18344B"/>
                </a:solidFill>
                <a:latin typeface="Arial"/>
                <a:ea typeface="Arial"/>
                <a:cs typeface="Arial"/>
              </a:rPr>
              <a:t>2025 revenue grew 2.37% as members fell 0.67%</a:t>
            </a:r>
          </a:p>
        </p:txBody>
      </p:sp>
      <p:sp>
        <p:nvSpPr>
          <p:cNvPr id="2" name="">
            <a:extLst xmlns:a="http://schemas.openxmlformats.org/drawingml/2006/main">
              <a:ext uri="{FF2B5EF4-FFF2-40B4-BE49-F238E27FC236}">
                <a16:creationId xmlns:a16="http://schemas.microsoft.com/office/drawing/2014/main" id="{5CEDC9F6-6614-4569-95CE-E5023BA27E87}"/>
              </a:ext>
            </a:extLst>
          </p:cNvPr>
          <p:cNvSpPr>
            <a:spLocks xmlns:a="http://schemas.openxmlformats.org/drawingml/2006/main" noGrp="1"/>
          </p:cNvSpPr>
          <p:nvPr/>
        </p:nvSpPr>
        <p:spPr>
          <a:xfrm xmlns:a="http://schemas.openxmlformats.org/drawingml/2006/main">
            <a:off x="609600" y="6238875"/>
            <a:ext cx="10629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2025 versus matching 2024 months. Revenue excludes assumed 20% VAT. Bridge interaction belongs to total ARPMM.</a:t>
            </a:r>
          </a:p>
        </p:txBody>
      </p:sp>
      <p:sp>
        <p:nvSpPr>
          <p:cNvPr id="3" name="">
            <a:extLst xmlns:a="http://schemas.openxmlformats.org/drawingml/2006/main">
              <a:ext uri="{FF2B5EF4-FFF2-40B4-BE49-F238E27FC236}">
                <a16:creationId xmlns:a16="http://schemas.microsoft.com/office/drawing/2014/main" id="{6F4C6866-1612-4B09-B29C-20A7C81C465D}"/>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745C1AF1-B34C-4CF3-BD79-6EA3F70AB5EE}"/>
              </a:ext>
            </a:extLst>
          </p:cNvPr>
          <p:cNvSpPr>
            <a:spLocks xmlns:a="http://schemas.openxmlformats.org/drawingml/2006/main" noGrp="1"/>
          </p:cNvSpPr>
          <p:nvPr/>
        </p:nvSpPr>
        <p:spPr>
          <a:xfrm xmlns:a="http://schemas.openxmlformats.org/drawingml/2006/main">
            <a:off x="609600" y="1685925"/>
            <a:ext cx="695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8344B"/>
                </a:solidFill>
                <a:latin typeface="Arial"/>
                <a:ea typeface="Arial"/>
                <a:cs typeface="Arial"/>
              </a:defRPr>
            </a:pPr>
            <a:r>
              <a:rPr sz="1875" b="1">
                <a:solidFill>
                  <a:srgbClr val="18344B"/>
                </a:solidFill>
                <a:latin typeface="Arial"/>
                <a:ea typeface="Arial"/>
                <a:cs typeface="Arial"/>
              </a:rPr>
              <a:t>Change in annual net revenue, £m</a:t>
            </a:r>
          </a:p>
        </p:txBody>
      </p:sp>
      <p:graphicFrame>
        <p:nvGraphicFramePr>
          <p:cNvPr id="19" name="Chart"/>
          <p:cNvGraphicFramePr/>
          <p:nvPr/>
        </p:nvGraphicFramePr>
        <p:xfrm>
          <a:off xmlns:a="http://schemas.openxmlformats.org/drawingml/2006/main" x="619125" y="2124075"/>
          <a:ext xmlns:a="http://schemas.openxmlformats.org/drawingml/2006/main" cx="6858000" cy="3028950"/>
        </p:xfrm>
        <a:graphic xmlns:a="http://schemas.openxmlformats.org/drawingml/2006/main">
          <a:graphicData uri="http://schemas.openxmlformats.org/drawingml/2006/chart">
            <c:chart xmlns:r="http://schemas.openxmlformats.org/officeDocument/2006/relationships" xmlns:c="http://schemas.openxmlformats.org/drawingml/2006/chart" r:id="R94bd29a9049048b5"/>
          </a:graphicData>
        </a:graphic>
      </p:graphicFrame>
      <p:sp>
        <p:nvSpPr>
          <p:cNvPr id="6" name="">
            <a:extLst xmlns:a="http://schemas.openxmlformats.org/drawingml/2006/main">
              <a:ext uri="{FF2B5EF4-FFF2-40B4-BE49-F238E27FC236}">
                <a16:creationId xmlns:a16="http://schemas.microsoft.com/office/drawing/2014/main" id="{3C055C68-07BB-40D1-A8EC-AEC91AED1B78}"/>
              </a:ext>
            </a:extLst>
          </p:cNvPr>
          <p:cNvSpPr>
            <a:spLocks xmlns:a="http://schemas.openxmlformats.org/drawingml/2006/main" noGrp="1"/>
          </p:cNvSpPr>
          <p:nvPr/>
        </p:nvSpPr>
        <p:spPr>
          <a:xfrm xmlns:a="http://schemas.openxmlformats.org/drawingml/2006/main">
            <a:off x="8239125" y="1762125"/>
            <a:ext cx="3286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8344B"/>
                </a:solidFill>
                <a:latin typeface="Arial"/>
                <a:ea typeface="Arial"/>
                <a:cs typeface="Arial"/>
              </a:defRPr>
            </a:pPr>
            <a:r>
              <a:rPr sz="2850" b="1">
                <a:solidFill>
                  <a:srgbClr val="18344B"/>
                </a:solidFill>
                <a:latin typeface="Arial"/>
                <a:ea typeface="Arial"/>
                <a:cs typeface="Arial"/>
              </a:rPr>
              <a:t>£107.01m</a:t>
            </a:r>
          </a:p>
        </p:txBody>
      </p:sp>
      <p:sp>
        <p:nvSpPr>
          <p:cNvPr id="7" name="">
            <a:extLst xmlns:a="http://schemas.openxmlformats.org/drawingml/2006/main">
              <a:ext uri="{FF2B5EF4-FFF2-40B4-BE49-F238E27FC236}">
                <a16:creationId xmlns:a16="http://schemas.microsoft.com/office/drawing/2014/main" id="{35F21736-3193-45D0-8F8D-78AA9855B780}"/>
              </a:ext>
            </a:extLst>
          </p:cNvPr>
          <p:cNvSpPr>
            <a:spLocks xmlns:a="http://schemas.openxmlformats.org/drawingml/2006/main" noGrp="1"/>
          </p:cNvSpPr>
          <p:nvPr/>
        </p:nvSpPr>
        <p:spPr>
          <a:xfrm xmlns:a="http://schemas.openxmlformats.org/drawingml/2006/main">
            <a:off x="8239125" y="221932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674"/>
                </a:solidFill>
                <a:latin typeface="Arial"/>
                <a:ea typeface="Arial"/>
                <a:cs typeface="Arial"/>
              </a:defRPr>
            </a:pPr>
            <a:r>
              <a:rPr sz="1725" b="0">
                <a:solidFill>
                  <a:srgbClr val="536674"/>
                </a:solidFill>
                <a:latin typeface="Arial"/>
                <a:ea typeface="Arial"/>
                <a:cs typeface="Arial"/>
              </a:rPr>
              <a:t>2025 earned net revenue</a:t>
            </a:r>
          </a:p>
        </p:txBody>
      </p:sp>
      <p:sp>
        <p:nvSpPr>
          <p:cNvPr id="8" name="">
            <a:extLst xmlns:a="http://schemas.openxmlformats.org/drawingml/2006/main">
              <a:ext uri="{FF2B5EF4-FFF2-40B4-BE49-F238E27FC236}">
                <a16:creationId xmlns:a16="http://schemas.microsoft.com/office/drawing/2014/main" id="{54BAE0AF-F9D6-4E4A-8E48-D71EFAB52AFC}"/>
              </a:ext>
            </a:extLst>
          </p:cNvPr>
          <p:cNvSpPr>
            <a:spLocks xmlns:a="http://schemas.openxmlformats.org/drawingml/2006/main" noGrp="1"/>
          </p:cNvSpPr>
          <p:nvPr/>
        </p:nvSpPr>
        <p:spPr>
          <a:xfrm xmlns:a="http://schemas.openxmlformats.org/drawingml/2006/main">
            <a:off x="8239125" y="2686050"/>
            <a:ext cx="3286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8344B"/>
                </a:solidFill>
                <a:latin typeface="Arial"/>
                <a:ea typeface="Arial"/>
                <a:cs typeface="Arial"/>
              </a:defRPr>
            </a:pPr>
            <a:r>
              <a:rPr sz="2850" b="1">
                <a:solidFill>
                  <a:srgbClr val="18344B"/>
                </a:solidFill>
                <a:latin typeface="Arial"/>
                <a:ea typeface="Arial"/>
                <a:cs typeface="Arial"/>
              </a:rPr>
              <a:t>396,311</a:t>
            </a:r>
          </a:p>
        </p:txBody>
      </p:sp>
      <p:sp>
        <p:nvSpPr>
          <p:cNvPr id="9" name="">
            <a:extLst xmlns:a="http://schemas.openxmlformats.org/drawingml/2006/main">
              <a:ext uri="{FF2B5EF4-FFF2-40B4-BE49-F238E27FC236}">
                <a16:creationId xmlns:a16="http://schemas.microsoft.com/office/drawing/2014/main" id="{E74FBDE1-1892-48BB-95E9-BB33F78ECF9B}"/>
              </a:ext>
            </a:extLst>
          </p:cNvPr>
          <p:cNvSpPr>
            <a:spLocks xmlns:a="http://schemas.openxmlformats.org/drawingml/2006/main" noGrp="1"/>
          </p:cNvSpPr>
          <p:nvPr/>
        </p:nvSpPr>
        <p:spPr>
          <a:xfrm xmlns:a="http://schemas.openxmlformats.org/drawingml/2006/main">
            <a:off x="8239125" y="3143250"/>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674"/>
                </a:solidFill>
                <a:latin typeface="Arial"/>
                <a:ea typeface="Arial"/>
                <a:cs typeface="Arial"/>
              </a:defRPr>
            </a:pPr>
            <a:r>
              <a:rPr sz="1725" b="0">
                <a:solidFill>
                  <a:srgbClr val="536674"/>
                </a:solidFill>
                <a:latin typeface="Arial"/>
                <a:ea typeface="Arial"/>
                <a:cs typeface="Arial"/>
              </a:rPr>
              <a:t>December closing members</a:t>
            </a:r>
          </a:p>
        </p:txBody>
      </p:sp>
      <p:sp>
        <p:nvSpPr>
          <p:cNvPr id="10" name="">
            <a:extLst xmlns:a="http://schemas.openxmlformats.org/drawingml/2006/main">
              <a:ext uri="{FF2B5EF4-FFF2-40B4-BE49-F238E27FC236}">
                <a16:creationId xmlns:a16="http://schemas.microsoft.com/office/drawing/2014/main" id="{21E681CD-879B-4A21-AE16-EE0C9708C2F9}"/>
              </a:ext>
            </a:extLst>
          </p:cNvPr>
          <p:cNvSpPr>
            <a:spLocks xmlns:a="http://schemas.openxmlformats.org/drawingml/2006/main" noGrp="1"/>
          </p:cNvSpPr>
          <p:nvPr/>
        </p:nvSpPr>
        <p:spPr>
          <a:xfrm xmlns:a="http://schemas.openxmlformats.org/drawingml/2006/main">
            <a:off x="8239125" y="3609975"/>
            <a:ext cx="3286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8344B"/>
                </a:solidFill>
                <a:latin typeface="Arial"/>
                <a:ea typeface="Arial"/>
                <a:cs typeface="Arial"/>
              </a:defRPr>
            </a:pPr>
            <a:r>
              <a:rPr sz="2850" b="1">
                <a:solidFill>
                  <a:srgbClr val="18344B"/>
                </a:solidFill>
                <a:latin typeface="Arial"/>
                <a:ea typeface="Arial"/>
                <a:cs typeface="Arial"/>
              </a:rPr>
              <a:t>£21.97</a:t>
            </a:r>
          </a:p>
        </p:txBody>
      </p:sp>
      <p:sp>
        <p:nvSpPr>
          <p:cNvPr id="11" name="">
            <a:extLst xmlns:a="http://schemas.openxmlformats.org/drawingml/2006/main">
              <a:ext uri="{FF2B5EF4-FFF2-40B4-BE49-F238E27FC236}">
                <a16:creationId xmlns:a16="http://schemas.microsoft.com/office/drawing/2014/main" id="{F4BD8F07-B6C6-4D82-A607-0D0A1DAACA0E}"/>
              </a:ext>
            </a:extLst>
          </p:cNvPr>
          <p:cNvSpPr>
            <a:spLocks xmlns:a="http://schemas.openxmlformats.org/drawingml/2006/main" noGrp="1"/>
          </p:cNvSpPr>
          <p:nvPr/>
        </p:nvSpPr>
        <p:spPr>
          <a:xfrm xmlns:a="http://schemas.openxmlformats.org/drawingml/2006/main">
            <a:off x="8239125" y="406717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674"/>
                </a:solidFill>
                <a:latin typeface="Arial"/>
                <a:ea typeface="Arial"/>
                <a:cs typeface="Arial"/>
              </a:defRPr>
            </a:pPr>
            <a:r>
              <a:rPr sz="1725" b="0">
                <a:solidFill>
                  <a:srgbClr val="536674"/>
                </a:solidFill>
                <a:latin typeface="Arial"/>
                <a:ea typeface="Arial"/>
                <a:cs typeface="Arial"/>
              </a:rPr>
              <a:t>Total ARPMM, +2.79%</a:t>
            </a:r>
          </a:p>
        </p:txBody>
      </p:sp>
      <p:sp>
        <p:nvSpPr>
          <p:cNvPr id="12" name="">
            <a:extLst xmlns:a="http://schemas.openxmlformats.org/drawingml/2006/main">
              <a:ext uri="{FF2B5EF4-FFF2-40B4-BE49-F238E27FC236}">
                <a16:creationId xmlns:a16="http://schemas.microsoft.com/office/drawing/2014/main" id="{3DC0D6F4-E3CA-40F9-88B3-ECD61A7EFB48}"/>
              </a:ext>
            </a:extLst>
          </p:cNvPr>
          <p:cNvSpPr>
            <a:spLocks xmlns:a="http://schemas.openxmlformats.org/drawingml/2006/main" noGrp="1"/>
          </p:cNvSpPr>
          <p:nvPr/>
        </p:nvSpPr>
        <p:spPr>
          <a:xfrm xmlns:a="http://schemas.openxmlformats.org/drawingml/2006/main">
            <a:off x="8239125" y="4533900"/>
            <a:ext cx="3286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8344B"/>
                </a:solidFill>
                <a:latin typeface="Arial"/>
                <a:ea typeface="Arial"/>
                <a:cs typeface="Arial"/>
              </a:defRPr>
            </a:pPr>
            <a:r>
              <a:rPr sz="2850" b="1">
                <a:solidFill>
                  <a:srgbClr val="18344B"/>
                </a:solidFill>
                <a:latin typeface="Arial"/>
                <a:ea typeface="Arial"/>
                <a:cs typeface="Arial"/>
              </a:rPr>
              <a:t>221,277</a:t>
            </a:r>
          </a:p>
        </p:txBody>
      </p:sp>
      <p:sp>
        <p:nvSpPr>
          <p:cNvPr id="13" name="">
            <a:extLst xmlns:a="http://schemas.openxmlformats.org/drawingml/2006/main">
              <a:ext uri="{FF2B5EF4-FFF2-40B4-BE49-F238E27FC236}">
                <a16:creationId xmlns:a16="http://schemas.microsoft.com/office/drawing/2014/main" id="{D432B7ED-DA6D-4E42-9F64-5E0688181D16}"/>
              </a:ext>
            </a:extLst>
          </p:cNvPr>
          <p:cNvSpPr>
            <a:spLocks xmlns:a="http://schemas.openxmlformats.org/drawingml/2006/main" noGrp="1"/>
          </p:cNvSpPr>
          <p:nvPr/>
        </p:nvSpPr>
        <p:spPr>
          <a:xfrm xmlns:a="http://schemas.openxmlformats.org/drawingml/2006/main">
            <a:off x="8239125" y="4991100"/>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674"/>
                </a:solidFill>
                <a:latin typeface="Arial"/>
                <a:ea typeface="Arial"/>
                <a:cs typeface="Arial"/>
              </a:defRPr>
            </a:pPr>
            <a:r>
              <a:rPr sz="1725" b="0">
                <a:solidFill>
                  <a:srgbClr val="536674"/>
                </a:solidFill>
                <a:latin typeface="Arial"/>
                <a:ea typeface="Arial"/>
                <a:cs typeface="Arial"/>
              </a:rPr>
              <a:t>Annual joins, −0.13%</a:t>
            </a:r>
          </a:p>
        </p:txBody>
      </p:sp>
      <p:sp>
        <p:nvSpPr>
          <p:cNvPr id="14" name="">
            <a:extLst xmlns:a="http://schemas.openxmlformats.org/drawingml/2006/main">
              <a:ext uri="{FF2B5EF4-FFF2-40B4-BE49-F238E27FC236}">
                <a16:creationId xmlns:a16="http://schemas.microsoft.com/office/drawing/2014/main" id="{928343D6-9ABC-4339-8BFC-52C7B1897399}"/>
              </a:ext>
            </a:extLst>
          </p:cNvPr>
          <p:cNvSpPr>
            <a:spLocks xmlns:a="http://schemas.openxmlformats.org/drawingml/2006/main" noGrp="1"/>
          </p:cNvSpPr>
          <p:nvPr/>
        </p:nvSpPr>
        <p:spPr>
          <a:xfrm xmlns:a="http://schemas.openxmlformats.org/drawingml/2006/main">
            <a:off x="609600" y="55054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8344B"/>
                </a:solidFill>
                <a:latin typeface="Arial"/>
                <a:ea typeface="Arial"/>
                <a:cs typeface="Arial"/>
              </a:defRPr>
            </a:pPr>
            <a:r>
              <a:rPr sz="1875" b="0">
                <a:solidFill>
                  <a:srgbClr val="18344B"/>
                </a:solidFill>
                <a:latin typeface="Arial"/>
                <a:ea typeface="Arial"/>
                <a:cs typeface="Arial"/>
              </a:rPr>
              <a:t>Q4 recruitment weakened further: acquisitions fell 1.32% while revenue rose 2.05%.</a:t>
            </a:r>
          </a:p>
        </p:txBody>
      </p:sp>
    </p:spTree>
    <p:extLst>
      <p:ext uri="{BB962C8B-B14F-4D97-AF65-F5344CB8AC3E}">
        <p14:creationId xmlns:p14="http://schemas.microsoft.com/office/powerpoint/2010/main" val="10264912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BC367E0-DFF0-4000-888E-1E496366110A}"/>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8344B"/>
                </a:solidFill>
                <a:latin typeface="Arial"/>
                <a:ea typeface="Arial"/>
                <a:cs typeface="Arial"/>
              </a:defRPr>
            </a:pPr>
            <a:r>
              <a:rPr sz="3225" b="1">
                <a:solidFill>
                  <a:srgbClr val="18344B"/>
                </a:solidFill>
                <a:latin typeface="Arial"/>
                <a:ea typeface="Arial"/>
                <a:cs typeface="Arial"/>
              </a:rPr>
              <a:t>31 gyms have no current recurring-price advantage</a:t>
            </a:r>
          </a:p>
        </p:txBody>
      </p:sp>
      <p:sp>
        <p:nvSpPr>
          <p:cNvPr id="2" name="">
            <a:extLst xmlns:a="http://schemas.openxmlformats.org/drawingml/2006/main">
              <a:ext uri="{FF2B5EF4-FFF2-40B4-BE49-F238E27FC236}">
                <a16:creationId xmlns:a16="http://schemas.microsoft.com/office/drawing/2014/main" id="{90437964-EB30-439D-B816-1391995D42F5}"/>
              </a:ext>
            </a:extLst>
          </p:cNvPr>
          <p:cNvSpPr>
            <a:spLocks xmlns:a="http://schemas.openxmlformats.org/drawingml/2006/main" noGrp="1"/>
          </p:cNvSpPr>
          <p:nvPr/>
        </p:nvSpPr>
        <p:spPr>
          <a:xfrm xmlns:a="http://schemas.openxmlformats.org/drawingml/2006/main">
            <a:off x="609600" y="6238875"/>
            <a:ext cx="10629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Competitor recurring prices include VAT. December 2025 snapshot. Churn uses full-year 2025 opening exposure.</a:t>
            </a:r>
          </a:p>
        </p:txBody>
      </p:sp>
      <p:sp>
        <p:nvSpPr>
          <p:cNvPr id="3" name="">
            <a:extLst xmlns:a="http://schemas.openxmlformats.org/drawingml/2006/main">
              <a:ext uri="{FF2B5EF4-FFF2-40B4-BE49-F238E27FC236}">
                <a16:creationId xmlns:a16="http://schemas.microsoft.com/office/drawing/2014/main" id="{B5CE0FAA-1A99-42D4-BA06-E2961CB980F6}"/>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03</a:t>
            </a:r>
          </a:p>
        </p:txBody>
      </p:sp>
      <p:graphicFrame>
        <p:nvGraphicFramePr>
          <p:cNvPr id="13" name="Chart"/>
          <p:cNvGraphicFramePr/>
          <p:nvPr/>
        </p:nvGraphicFramePr>
        <p:xfrm>
          <a:off xmlns:a="http://schemas.openxmlformats.org/drawingml/2006/main" x="552450" y="1762125"/>
          <a:ext xmlns:a="http://schemas.openxmlformats.org/drawingml/2006/main" cx="7096125" cy="3790950"/>
        </p:xfrm>
        <a:graphic xmlns:a="http://schemas.openxmlformats.org/drawingml/2006/main">
          <a:graphicData uri="http://schemas.openxmlformats.org/drawingml/2006/chart">
            <c:chart xmlns:r="http://schemas.openxmlformats.org/officeDocument/2006/relationships" xmlns:c="http://schemas.openxmlformats.org/drawingml/2006/chart" r:id="Ra545ba038a2842c2"/>
          </a:graphicData>
        </a:graphic>
      </p:graphicFrame>
      <p:sp>
        <p:nvSpPr>
          <p:cNvPr id="5" name="">
            <a:extLst xmlns:a="http://schemas.openxmlformats.org/drawingml/2006/main">
              <a:ext uri="{FF2B5EF4-FFF2-40B4-BE49-F238E27FC236}">
                <a16:creationId xmlns:a16="http://schemas.microsoft.com/office/drawing/2014/main" id="{4221CE93-1EA6-40BF-95A0-09DDF187A03E}"/>
              </a:ext>
            </a:extLst>
          </p:cNvPr>
          <p:cNvSpPr>
            <a:spLocks xmlns:a="http://schemas.openxmlformats.org/drawingml/2006/main" noGrp="1"/>
          </p:cNvSpPr>
          <p:nvPr/>
        </p:nvSpPr>
        <p:spPr>
          <a:xfrm xmlns:a="http://schemas.openxmlformats.org/drawingml/2006/main">
            <a:off x="8239125" y="195262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8344B"/>
                </a:solidFill>
                <a:latin typeface="Arial"/>
                <a:ea typeface="Arial"/>
                <a:cs typeface="Arial"/>
              </a:defRPr>
            </a:pPr>
            <a:r>
              <a:rPr sz="3600" b="1">
                <a:solidFill>
                  <a:srgbClr val="18344B"/>
                </a:solidFill>
                <a:latin typeface="Arial"/>
                <a:ea typeface="Arial"/>
                <a:cs typeface="Arial"/>
              </a:rPr>
              <a:t>31</a:t>
            </a:r>
          </a:p>
        </p:txBody>
      </p:sp>
      <p:sp>
        <p:nvSpPr>
          <p:cNvPr id="6" name="">
            <a:extLst xmlns:a="http://schemas.openxmlformats.org/drawingml/2006/main">
              <a:ext uri="{FF2B5EF4-FFF2-40B4-BE49-F238E27FC236}">
                <a16:creationId xmlns:a16="http://schemas.microsoft.com/office/drawing/2014/main" id="{1CA2DBDB-55C5-4106-9D0F-98ACB0AE56E7}"/>
              </a:ext>
            </a:extLst>
          </p:cNvPr>
          <p:cNvSpPr>
            <a:spLocks xmlns:a="http://schemas.openxmlformats.org/drawingml/2006/main" noGrp="1"/>
          </p:cNvSpPr>
          <p:nvPr/>
        </p:nvSpPr>
        <p:spPr>
          <a:xfrm xmlns:a="http://schemas.openxmlformats.org/drawingml/2006/main">
            <a:off x="8239125" y="25527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36674"/>
                </a:solidFill>
                <a:latin typeface="Arial"/>
                <a:ea typeface="Arial"/>
                <a:cs typeface="Arial"/>
              </a:defRPr>
            </a:pPr>
            <a:r>
              <a:rPr sz="2025" b="0">
                <a:solidFill>
                  <a:srgbClr val="536674"/>
                </a:solidFill>
                <a:latin typeface="Arial"/>
                <a:ea typeface="Arial"/>
                <a:cs typeface="Arial"/>
              </a:rPr>
              <a:t>Sites with gap ≤ £0</a:t>
            </a:r>
          </a:p>
        </p:txBody>
      </p:sp>
      <p:sp>
        <p:nvSpPr>
          <p:cNvPr id="7" name="">
            <a:extLst xmlns:a="http://schemas.openxmlformats.org/drawingml/2006/main">
              <a:ext uri="{FF2B5EF4-FFF2-40B4-BE49-F238E27FC236}">
                <a16:creationId xmlns:a16="http://schemas.microsoft.com/office/drawing/2014/main" id="{9CC588F2-AFF8-43F3-BC2B-F3FAC517F860}"/>
              </a:ext>
            </a:extLst>
          </p:cNvPr>
          <p:cNvSpPr>
            <a:spLocks xmlns:a="http://schemas.openxmlformats.org/drawingml/2006/main" noGrp="1"/>
          </p:cNvSpPr>
          <p:nvPr/>
        </p:nvSpPr>
        <p:spPr>
          <a:xfrm xmlns:a="http://schemas.openxmlformats.org/drawingml/2006/main">
            <a:off x="8239125" y="33813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B54452"/>
                </a:solidFill>
                <a:latin typeface="Arial"/>
                <a:ea typeface="Arial"/>
                <a:cs typeface="Arial"/>
              </a:defRPr>
            </a:pPr>
            <a:r>
              <a:rPr sz="3600" b="1">
                <a:solidFill>
                  <a:srgbClr val="B54452"/>
                </a:solidFill>
                <a:latin typeface="Arial"/>
                <a:ea typeface="Arial"/>
                <a:cs typeface="Arial"/>
              </a:rPr>
              <a:t>38</a:t>
            </a:r>
          </a:p>
        </p:txBody>
      </p:sp>
      <p:sp>
        <p:nvSpPr>
          <p:cNvPr id="8" name="">
            <a:extLst xmlns:a="http://schemas.openxmlformats.org/drawingml/2006/main">
              <a:ext uri="{FF2B5EF4-FFF2-40B4-BE49-F238E27FC236}">
                <a16:creationId xmlns:a16="http://schemas.microsoft.com/office/drawing/2014/main" id="{C65F3A23-2DF9-4EE6-9FAC-B55CD8BD081A}"/>
              </a:ext>
            </a:extLst>
          </p:cNvPr>
          <p:cNvSpPr>
            <a:spLocks xmlns:a="http://schemas.openxmlformats.org/drawingml/2006/main" noGrp="1"/>
          </p:cNvSpPr>
          <p:nvPr/>
        </p:nvSpPr>
        <p:spPr>
          <a:xfrm xmlns:a="http://schemas.openxmlformats.org/drawingml/2006/main">
            <a:off x="8239125" y="3981450"/>
            <a:ext cx="323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36674"/>
                </a:solidFill>
                <a:latin typeface="Arial"/>
                <a:ea typeface="Arial"/>
                <a:cs typeface="Arial"/>
              </a:defRPr>
            </a:pPr>
            <a:r>
              <a:rPr sz="2025" b="0">
                <a:solidFill>
                  <a:srgbClr val="536674"/>
                </a:solidFill>
                <a:latin typeface="Arial"/>
                <a:ea typeface="Arial"/>
                <a:cs typeface="Arial"/>
              </a:rPr>
              <a:t>Sites with baseline caution</a:t>
            </a:r>
          </a:p>
        </p:txBody>
      </p:sp>
      <p:sp>
        <p:nvSpPr>
          <p:cNvPr id="9" name="">
            <a:extLst xmlns:a="http://schemas.openxmlformats.org/drawingml/2006/main">
              <a:ext uri="{FF2B5EF4-FFF2-40B4-BE49-F238E27FC236}">
                <a16:creationId xmlns:a16="http://schemas.microsoft.com/office/drawing/2014/main" id="{06E06EB8-7790-47B3-85D5-1463D60C0557}"/>
              </a:ext>
            </a:extLst>
          </p:cNvPr>
          <p:cNvSpPr>
            <a:spLocks xmlns:a="http://schemas.openxmlformats.org/drawingml/2006/main" noGrp="1"/>
          </p:cNvSpPr>
          <p:nvPr/>
        </p:nvSpPr>
        <p:spPr>
          <a:xfrm xmlns:a="http://schemas.openxmlformats.org/drawingml/2006/main">
            <a:off x="8239125" y="51435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8344B"/>
                </a:solidFill>
                <a:latin typeface="Arial"/>
                <a:ea typeface="Arial"/>
                <a:cs typeface="Arial"/>
              </a:defRPr>
            </a:pPr>
            <a:r>
              <a:rPr sz="2025" b="1">
                <a:solidFill>
                  <a:srgbClr val="18344B"/>
                </a:solidFill>
                <a:latin typeface="Arial"/>
                <a:ea typeface="Arial"/>
                <a:cs typeface="Arial"/>
              </a:rPr>
              <a:t>Median Standard price £25.99</a:t>
            </a:r>
          </a:p>
        </p:txBody>
      </p:sp>
    </p:spTree>
    <p:extLst>
      <p:ext uri="{BB962C8B-B14F-4D97-AF65-F5344CB8AC3E}">
        <p14:creationId xmlns:p14="http://schemas.microsoft.com/office/powerpoint/2010/main" val="21310158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A0F6CEB-255D-4075-990D-278D81AB88D1}"/>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8344B"/>
                </a:solidFill>
                <a:latin typeface="Arial"/>
                <a:ea typeface="Arial"/>
                <a:cs typeface="Arial"/>
              </a:defRPr>
            </a:pPr>
            <a:r>
              <a:rPr sz="3225" b="1">
                <a:solidFill>
                  <a:srgbClr val="18344B"/>
                </a:solidFill>
                <a:latin typeface="Arial"/>
                <a:ea typeface="Arial"/>
                <a:cs typeface="Arial"/>
              </a:rPr>
              <a:t>High scores still require behavioural evidence</a:t>
            </a:r>
          </a:p>
        </p:txBody>
      </p:sp>
      <p:sp>
        <p:nvSpPr>
          <p:cNvPr id="2" name="">
            <a:extLst xmlns:a="http://schemas.openxmlformats.org/drawingml/2006/main">
              <a:ext uri="{FF2B5EF4-FFF2-40B4-BE49-F238E27FC236}">
                <a16:creationId xmlns:a16="http://schemas.microsoft.com/office/drawing/2014/main" id="{589A2C67-1D19-46B8-BB28-356DDC8165CF}"/>
              </a:ext>
            </a:extLst>
          </p:cNvPr>
          <p:cNvSpPr>
            <a:spLocks xmlns:a="http://schemas.openxmlformats.org/drawingml/2006/main" noGrp="1"/>
          </p:cNvSpPr>
          <p:nvPr/>
        </p:nvSpPr>
        <p:spPr>
          <a:xfrm xmlns:a="http://schemas.openxmlformats.org/drawingml/2006/main">
            <a:off x="609600" y="6238875"/>
            <a:ext cx="10629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Headroom scores preserve Phase 4 ranks. Cautions remain separate from the 0–100 relative score.</a:t>
            </a:r>
          </a:p>
        </p:txBody>
      </p:sp>
      <p:sp>
        <p:nvSpPr>
          <p:cNvPr id="3" name="">
            <a:extLst xmlns:a="http://schemas.openxmlformats.org/drawingml/2006/main">
              <a:ext uri="{FF2B5EF4-FFF2-40B4-BE49-F238E27FC236}">
                <a16:creationId xmlns:a16="http://schemas.microsoft.com/office/drawing/2014/main" id="{A69168DC-2F0F-4727-B02C-E1E01CA80698}"/>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04</a:t>
            </a:r>
          </a:p>
        </p:txBody>
      </p:sp>
      <p:graphicFrame>
        <p:nvGraphicFramePr>
          <p:cNvPr id="13" name="Chart"/>
          <p:cNvGraphicFramePr/>
          <p:nvPr/>
        </p:nvGraphicFramePr>
        <p:xfrm>
          <a:off xmlns:a="http://schemas.openxmlformats.org/drawingml/2006/main" x="552450" y="1885950"/>
          <a:ext xmlns:a="http://schemas.openxmlformats.org/drawingml/2006/main" cx="6934200" cy="3524250"/>
        </p:xfrm>
        <a:graphic xmlns:a="http://schemas.openxmlformats.org/drawingml/2006/main">
          <a:graphicData uri="http://schemas.openxmlformats.org/drawingml/2006/chart">
            <c:chart xmlns:r="http://schemas.openxmlformats.org/officeDocument/2006/relationships" xmlns:c="http://schemas.openxmlformats.org/drawingml/2006/chart" r:id="Rdbc5f95b38c24d56"/>
          </a:graphicData>
        </a:graphic>
      </p:graphicFrame>
      <p:sp>
        <p:nvSpPr>
          <p:cNvPr id="5" name="">
            <a:extLst xmlns:a="http://schemas.openxmlformats.org/drawingml/2006/main">
              <a:ext uri="{FF2B5EF4-FFF2-40B4-BE49-F238E27FC236}">
                <a16:creationId xmlns:a16="http://schemas.microsoft.com/office/drawing/2014/main" id="{37F99369-A967-4899-AEAD-DB3854453768}"/>
              </a:ext>
            </a:extLst>
          </p:cNvPr>
          <p:cNvSpPr>
            <a:spLocks xmlns:a="http://schemas.openxmlformats.org/drawingml/2006/main" noGrp="1"/>
          </p:cNvSpPr>
          <p:nvPr/>
        </p:nvSpPr>
        <p:spPr>
          <a:xfrm xmlns:a="http://schemas.openxmlformats.org/drawingml/2006/main">
            <a:off x="8286750" y="18383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8344B"/>
                </a:solidFill>
                <a:latin typeface="Arial"/>
                <a:ea typeface="Arial"/>
                <a:cs typeface="Arial"/>
              </a:defRPr>
            </a:pPr>
            <a:r>
              <a:rPr sz="3600" b="1">
                <a:solidFill>
                  <a:srgbClr val="18344B"/>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47E3E2F6-0399-4D18-A286-27B4EDDA01BB}"/>
              </a:ext>
            </a:extLst>
          </p:cNvPr>
          <p:cNvSpPr>
            <a:spLocks xmlns:a="http://schemas.openxmlformats.org/drawingml/2006/main" noGrp="1"/>
          </p:cNvSpPr>
          <p:nvPr/>
        </p:nvSpPr>
        <p:spPr>
          <a:xfrm xmlns:a="http://schemas.openxmlformats.org/drawingml/2006/main">
            <a:off x="8286750" y="2438400"/>
            <a:ext cx="314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36674"/>
                </a:solidFill>
                <a:latin typeface="Arial"/>
                <a:ea typeface="Arial"/>
                <a:cs typeface="Arial"/>
              </a:defRPr>
            </a:pPr>
            <a:r>
              <a:rPr sz="2025" b="0">
                <a:solidFill>
                  <a:srgbClr val="536674"/>
                </a:solidFill>
                <a:latin typeface="Arial"/>
                <a:ea typeface="Arial"/>
                <a:cs typeface="Arial"/>
              </a:rPr>
              <a:t>High scores across the estate</a:t>
            </a:r>
          </a:p>
        </p:txBody>
      </p:sp>
      <p:sp>
        <p:nvSpPr>
          <p:cNvPr id="7" name="">
            <a:extLst xmlns:a="http://schemas.openxmlformats.org/drawingml/2006/main">
              <a:ext uri="{FF2B5EF4-FFF2-40B4-BE49-F238E27FC236}">
                <a16:creationId xmlns:a16="http://schemas.microsoft.com/office/drawing/2014/main" id="{1B7BC693-FFE6-4589-A03D-1570318A2060}"/>
              </a:ext>
            </a:extLst>
          </p:cNvPr>
          <p:cNvSpPr>
            <a:spLocks xmlns:a="http://schemas.openxmlformats.org/drawingml/2006/main" noGrp="1"/>
          </p:cNvSpPr>
          <p:nvPr/>
        </p:nvSpPr>
        <p:spPr>
          <a:xfrm xmlns:a="http://schemas.openxmlformats.org/drawingml/2006/main">
            <a:off x="8286750" y="33718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B54452"/>
                </a:solidFill>
                <a:latin typeface="Arial"/>
                <a:ea typeface="Arial"/>
                <a:cs typeface="Arial"/>
              </a:defRPr>
            </a:pPr>
            <a:r>
              <a:rPr sz="3600" b="1">
                <a:solidFill>
                  <a:srgbClr val="B54452"/>
                </a:solidFill>
                <a:latin typeface="Arial"/>
                <a:ea typeface="Arial"/>
                <a:cs typeface="Arial"/>
              </a:rPr>
              <a:t>5</a:t>
            </a:r>
          </a:p>
        </p:txBody>
      </p:sp>
      <p:sp>
        <p:nvSpPr>
          <p:cNvPr id="8" name="">
            <a:extLst xmlns:a="http://schemas.openxmlformats.org/drawingml/2006/main">
              <a:ext uri="{FF2B5EF4-FFF2-40B4-BE49-F238E27FC236}">
                <a16:creationId xmlns:a16="http://schemas.microsoft.com/office/drawing/2014/main" id="{B1390932-C896-4FD7-9134-C8FC6A2147A2}"/>
              </a:ext>
            </a:extLst>
          </p:cNvPr>
          <p:cNvSpPr>
            <a:spLocks xmlns:a="http://schemas.openxmlformats.org/drawingml/2006/main" noGrp="1"/>
          </p:cNvSpPr>
          <p:nvPr/>
        </p:nvSpPr>
        <p:spPr>
          <a:xfrm xmlns:a="http://schemas.openxmlformats.org/drawingml/2006/main">
            <a:off x="8286750" y="3971925"/>
            <a:ext cx="314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36674"/>
                </a:solidFill>
                <a:latin typeface="Arial"/>
                <a:ea typeface="Arial"/>
                <a:cs typeface="Arial"/>
              </a:defRPr>
            </a:pPr>
            <a:r>
              <a:rPr sz="2025" b="0">
                <a:solidFill>
                  <a:srgbClr val="536674"/>
                </a:solidFill>
                <a:latin typeface="Arial"/>
                <a:ea typeface="Arial"/>
                <a:cs typeface="Arial"/>
              </a:rPr>
              <a:t>High-score sites retain cautions</a:t>
            </a:r>
          </a:p>
        </p:txBody>
      </p:sp>
      <p:sp>
        <p:nvSpPr>
          <p:cNvPr id="9" name="">
            <a:extLst xmlns:a="http://schemas.openxmlformats.org/drawingml/2006/main">
              <a:ext uri="{FF2B5EF4-FFF2-40B4-BE49-F238E27FC236}">
                <a16:creationId xmlns:a16="http://schemas.microsoft.com/office/drawing/2014/main" id="{B30E2007-F72F-4FB3-89D6-B11F7AA80402}"/>
              </a:ext>
            </a:extLst>
          </p:cNvPr>
          <p:cNvSpPr>
            <a:spLocks xmlns:a="http://schemas.openxmlformats.org/drawingml/2006/main" noGrp="1"/>
          </p:cNvSpPr>
          <p:nvPr/>
        </p:nvSpPr>
        <p:spPr>
          <a:xfrm xmlns:a="http://schemas.openxmlformats.org/drawingml/2006/main">
            <a:off x="609600" y="56007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8344B"/>
                </a:solidFill>
                <a:latin typeface="Arial"/>
                <a:ea typeface="Arial"/>
                <a:cs typeface="Arial"/>
              </a:defRPr>
            </a:pPr>
            <a:r>
              <a:rPr sz="2025" b="1">
                <a:solidFill>
                  <a:srgbClr val="18344B"/>
                </a:solidFill>
                <a:latin typeface="Arial"/>
                <a:ea typeface="Arial"/>
                <a:cs typeface="Arial"/>
              </a:rPr>
              <a:t>51 of 80 sites are sensitive to score specification</a:t>
            </a:r>
          </a:p>
        </p:txBody>
      </p:sp>
    </p:spTree>
    <p:extLst>
      <p:ext uri="{BB962C8B-B14F-4D97-AF65-F5344CB8AC3E}">
        <p14:creationId xmlns:p14="http://schemas.microsoft.com/office/powerpoint/2010/main" val="4856076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2EF1EB-0891-44D4-A206-C1433511ADC6}"/>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8344B"/>
                </a:solidFill>
                <a:latin typeface="Arial"/>
                <a:ea typeface="Arial"/>
                <a:cs typeface="Arial"/>
              </a:defRPr>
            </a:pPr>
            <a:r>
              <a:rPr sz="3225" b="1">
                <a:solidFill>
                  <a:srgbClr val="18344B"/>
                </a:solidFill>
                <a:latin typeface="Arial"/>
                <a:ea typeface="Arial"/>
                <a:cs typeface="Arial"/>
              </a:rPr>
              <a:t>The historical £2 pilot gained revenue and lost joins</a:t>
            </a:r>
          </a:p>
        </p:txBody>
      </p:sp>
      <p:sp>
        <p:nvSpPr>
          <p:cNvPr id="2" name="">
            <a:extLst xmlns:a="http://schemas.openxmlformats.org/drawingml/2006/main">
              <a:ext uri="{FF2B5EF4-FFF2-40B4-BE49-F238E27FC236}">
                <a16:creationId xmlns:a16="http://schemas.microsoft.com/office/drawing/2014/main" id="{66F3E792-2994-4BA0-BB0D-E89D0EED2CDE}"/>
              </a:ext>
            </a:extLst>
          </p:cNvPr>
          <p:cNvSpPr>
            <a:spLocks xmlns:a="http://schemas.openxmlformats.org/drawingml/2006/main" noGrp="1"/>
          </p:cNvSpPr>
          <p:nvPr/>
        </p:nvSpPr>
        <p:spPr>
          <a:xfrm xmlns:a="http://schemas.openxmlformats.org/drawingml/2006/main">
            <a:off x="609600" y="6238875"/>
            <a:ext cx="10629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12 randomised pairs. Baseline Oct 2024–Mar 2025 versus Apr–Sep 2025. Monthly incumbent effects use percentage points.</a:t>
            </a:r>
          </a:p>
        </p:txBody>
      </p:sp>
      <p:sp>
        <p:nvSpPr>
          <p:cNvPr id="3" name="">
            <a:extLst xmlns:a="http://schemas.openxmlformats.org/drawingml/2006/main">
              <a:ext uri="{FF2B5EF4-FFF2-40B4-BE49-F238E27FC236}">
                <a16:creationId xmlns:a16="http://schemas.microsoft.com/office/drawing/2014/main" id="{7B9F225B-4C5B-4D24-9A57-562A05219804}"/>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05</a:t>
            </a:r>
          </a:p>
        </p:txBody>
      </p:sp>
      <p:graphicFrame>
        <p:nvGraphicFramePr>
          <p:cNvPr id="10" name=""/>
          <p:cNvGraphicFramePr/>
          <p:nvPr/>
        </p:nvGraphicFramePr>
        <p:xfrm>
          <a:off xmlns:a="http://schemas.openxmlformats.org/drawingml/2006/main" x="609600" y="1809750"/>
          <a:ext xmlns:a="http://schemas.openxmlformats.org/drawingml/2006/main" cx="10972800" cy="2762250"/>
        </p:xfrm>
        <a:graphic xmlns:a="http://schemas.openxmlformats.org/drawingml/2006/main">
          <a:graphicData uri="http://schemas.openxmlformats.org/drawingml/2006/table">
            <a:tbl>
              <a:tblPr/>
              <a:tblGrid>
                <a:gridCol w="4619625"/>
                <a:gridCol w="2333625"/>
                <a:gridCol w="4019550"/>
              </a:tblGrid>
              <a:tr h="552450">
                <a:tc>
                  <a:txBody>
                    <a:bodyPr>
                      <a:noAutofit/>
                    </a:bodyPr>
                    <a:lstStyle/>
                    <a:p>
                      <a:r>
                        <a:rPr sz="1875" b="1">
                          <a:solidFill>
                            <a:srgbClr val="FFFFFF"/>
                          </a:solidFill>
                          <a:latin typeface="Arial"/>
                          <a:ea typeface="Arial"/>
                          <a:cs typeface="Arial"/>
                        </a:rPr>
                        <a:t>Historical response</a:t>
                      </a:r>
                    </a:p>
                  </a:txBody>
                  <a:tcPr marL="114300" marR="114300" marT="66675" marB="66675" anchor="ctr">
                    <a:solidFill>
                      <a:srgbClr val="18344B"/>
                    </a:solidFill>
                  </a:tcPr>
                </a:tc>
                <a:tc>
                  <a:txBody>
                    <a:bodyPr>
                      <a:noAutofit/>
                    </a:bodyPr>
                    <a:lstStyle/>
                    <a:p>
                      <a:r>
                        <a:rPr sz="1875" b="1">
                          <a:solidFill>
                            <a:srgbClr val="FFFFFF"/>
                          </a:solidFill>
                          <a:latin typeface="Arial"/>
                          <a:ea typeface="Arial"/>
                          <a:cs typeface="Arial"/>
                        </a:rPr>
                        <a:t>Point estimate</a:t>
                      </a:r>
                    </a:p>
                  </a:txBody>
                  <a:tcPr marL="114300" marR="114300" marT="66675" marB="66675" anchor="ctr">
                    <a:solidFill>
                      <a:srgbClr val="18344B"/>
                    </a:solidFill>
                  </a:tcPr>
                </a:tc>
                <a:tc>
                  <a:txBody>
                    <a:bodyPr>
                      <a:noAutofit/>
                    </a:bodyPr>
                    <a:lstStyle/>
                    <a:p>
                      <a:r>
                        <a:rPr sz="1875" b="1">
                          <a:solidFill>
                            <a:srgbClr val="FFFFFF"/>
                          </a:solidFill>
                          <a:latin typeface="Arial"/>
                          <a:ea typeface="Arial"/>
                          <a:cs typeface="Arial"/>
                        </a:rPr>
                        <a:t>95% whole-pair interval</a:t>
                      </a:r>
                    </a:p>
                  </a:txBody>
                  <a:tcPr marL="114300" marR="114300" marT="66675" marB="66675" anchor="ctr">
                    <a:solidFill>
                      <a:srgbClr val="18344B"/>
                    </a:solidFill>
                  </a:tcPr>
                </a:tc>
              </a:tr>
              <a:tr h="552450">
                <a:tc>
                  <a:txBody>
                    <a:bodyPr>
                      <a:noAutofit/>
                    </a:bodyPr>
                    <a:lstStyle/>
                    <a:p>
                      <a:r>
                        <a:rPr sz="1875" b="0">
                          <a:solidFill>
                            <a:srgbClr val="18344B"/>
                          </a:solidFill>
                          <a:latin typeface="Arial"/>
                          <a:ea typeface="Arial"/>
                          <a:cs typeface="Arial"/>
                        </a:rPr>
                        <a:t>Standard acquisition</a:t>
                      </a:r>
                    </a:p>
                  </a:txBody>
                  <a:tcPr marL="114300" marR="114300" marT="66675" marB="66675" anchor="ctr">
                    <a:solidFill>
                      <a:srgbClr val="FFFFFF"/>
                    </a:solidFill>
                  </a:tcPr>
                </a:tc>
                <a:tc>
                  <a:txBody>
                    <a:bodyPr>
                      <a:noAutofit/>
                    </a:bodyPr>
                    <a:lstStyle/>
                    <a:p>
                      <a:r>
                        <a:rPr sz="1875" b="0">
                          <a:solidFill>
                            <a:srgbClr val="18344B"/>
                          </a:solidFill>
                          <a:latin typeface="Arial"/>
                          <a:ea typeface="Arial"/>
                          <a:cs typeface="Arial"/>
                        </a:rPr>
                        <a:t>-8.27%</a:t>
                      </a:r>
                    </a:p>
                  </a:txBody>
                  <a:tcPr marL="114300" marR="114300" marT="66675" marB="66675" anchor="ctr">
                    <a:solidFill>
                      <a:srgbClr val="FFFFFF"/>
                    </a:solidFill>
                  </a:tcPr>
                </a:tc>
                <a:tc>
                  <a:txBody>
                    <a:bodyPr>
                      <a:noAutofit/>
                    </a:bodyPr>
                    <a:lstStyle/>
                    <a:p>
                      <a:r>
                        <a:rPr sz="1875" b="0">
                          <a:solidFill>
                            <a:srgbClr val="18344B"/>
                          </a:solidFill>
                          <a:latin typeface="Arial"/>
                          <a:ea typeface="Arial"/>
                          <a:cs typeface="Arial"/>
                        </a:rPr>
                        <a:t>-13.90% to -2.89%</a:t>
                      </a:r>
                    </a:p>
                  </a:txBody>
                  <a:tcPr marL="114300" marR="114300" marT="66675" marB="66675" anchor="ctr">
                    <a:solidFill>
                      <a:srgbClr val="FFFFFF"/>
                    </a:solidFill>
                  </a:tcPr>
                </a:tc>
              </a:tr>
              <a:tr h="552450">
                <a:tc>
                  <a:txBody>
                    <a:bodyPr>
                      <a:noAutofit/>
                    </a:bodyPr>
                    <a:lstStyle/>
                    <a:p>
                      <a:r>
                        <a:rPr sz="1875" b="0">
                          <a:solidFill>
                            <a:srgbClr val="18344B"/>
                          </a:solidFill>
                          <a:latin typeface="Arial"/>
                          <a:ea typeface="Arial"/>
                          <a:cs typeface="Arial"/>
                        </a:rPr>
                        <a:t>Incumbent monthly churn</a:t>
                      </a:r>
                    </a:p>
                  </a:txBody>
                  <a:tcPr marL="114300" marR="114300" marT="66675" marB="66675" anchor="ctr">
                    <a:solidFill>
                      <a:srgbClr val="F1F5F6"/>
                    </a:solidFill>
                  </a:tcPr>
                </a:tc>
                <a:tc>
                  <a:txBody>
                    <a:bodyPr>
                      <a:noAutofit/>
                    </a:bodyPr>
                    <a:lstStyle/>
                    <a:p>
                      <a:r>
                        <a:rPr sz="1875" b="0">
                          <a:solidFill>
                            <a:srgbClr val="18344B"/>
                          </a:solidFill>
                          <a:latin typeface="Arial"/>
                          <a:ea typeface="Arial"/>
                          <a:cs typeface="Arial"/>
                        </a:rPr>
                        <a:t>+0.345 pp</a:t>
                      </a:r>
                    </a:p>
                  </a:txBody>
                  <a:tcPr marL="114300" marR="114300" marT="66675" marB="66675" anchor="ctr">
                    <a:solidFill>
                      <a:srgbClr val="F1F5F6"/>
                    </a:solidFill>
                  </a:tcPr>
                </a:tc>
                <a:tc>
                  <a:txBody>
                    <a:bodyPr>
                      <a:noAutofit/>
                    </a:bodyPr>
                    <a:lstStyle/>
                    <a:p>
                      <a:r>
                        <a:rPr sz="1875" b="0">
                          <a:solidFill>
                            <a:srgbClr val="18344B"/>
                          </a:solidFill>
                          <a:latin typeface="Arial"/>
                          <a:ea typeface="Arial"/>
                          <a:cs typeface="Arial"/>
                        </a:rPr>
                        <a:t>0.182 to 0.497 pp</a:t>
                      </a:r>
                    </a:p>
                  </a:txBody>
                  <a:tcPr marL="114300" marR="114300" marT="66675" marB="66675" anchor="ctr">
                    <a:solidFill>
                      <a:srgbClr val="F1F5F6"/>
                    </a:solidFill>
                  </a:tcPr>
                </a:tc>
              </a:tr>
              <a:tr h="552450">
                <a:tc>
                  <a:txBody>
                    <a:bodyPr>
                      <a:noAutofit/>
                    </a:bodyPr>
                    <a:lstStyle/>
                    <a:p>
                      <a:r>
                        <a:rPr sz="1875" b="0">
                          <a:solidFill>
                            <a:srgbClr val="18344B"/>
                          </a:solidFill>
                          <a:latin typeface="Arial"/>
                          <a:ea typeface="Arial"/>
                          <a:cs typeface="Arial"/>
                        </a:rPr>
                        <a:t>Incumbent monthly downgrades</a:t>
                      </a:r>
                    </a:p>
                  </a:txBody>
                  <a:tcPr marL="114300" marR="114300" marT="66675" marB="66675" anchor="ctr">
                    <a:solidFill>
                      <a:srgbClr val="FFFFFF"/>
                    </a:solidFill>
                  </a:tcPr>
                </a:tc>
                <a:tc>
                  <a:txBody>
                    <a:bodyPr>
                      <a:noAutofit/>
                    </a:bodyPr>
                    <a:lstStyle/>
                    <a:p>
                      <a:r>
                        <a:rPr sz="1875" b="0">
                          <a:solidFill>
                            <a:srgbClr val="18344B"/>
                          </a:solidFill>
                          <a:latin typeface="Arial"/>
                          <a:ea typeface="Arial"/>
                          <a:cs typeface="Arial"/>
                        </a:rPr>
                        <a:t>+0.324 pp</a:t>
                      </a:r>
                    </a:p>
                  </a:txBody>
                  <a:tcPr marL="114300" marR="114300" marT="66675" marB="66675" anchor="ctr">
                    <a:solidFill>
                      <a:srgbClr val="FFFFFF"/>
                    </a:solidFill>
                  </a:tcPr>
                </a:tc>
                <a:tc>
                  <a:txBody>
                    <a:bodyPr>
                      <a:noAutofit/>
                    </a:bodyPr>
                    <a:lstStyle/>
                    <a:p>
                      <a:r>
                        <a:rPr sz="1875" b="0">
                          <a:solidFill>
                            <a:srgbClr val="18344B"/>
                          </a:solidFill>
                          <a:latin typeface="Arial"/>
                          <a:ea typeface="Arial"/>
                          <a:cs typeface="Arial"/>
                        </a:rPr>
                        <a:t>0.294 to 0.356 pp</a:t>
                      </a:r>
                    </a:p>
                  </a:txBody>
                  <a:tcPr marL="114300" marR="114300" marT="66675" marB="66675" anchor="ctr">
                    <a:solidFill>
                      <a:srgbClr val="FFFFFF"/>
                    </a:solidFill>
                  </a:tcPr>
                </a:tc>
              </a:tr>
              <a:tr h="552450">
                <a:tc>
                  <a:txBody>
                    <a:bodyPr>
                      <a:noAutofit/>
                    </a:bodyPr>
                    <a:lstStyle/>
                    <a:p>
                      <a:r>
                        <a:rPr sz="1875" b="0">
                          <a:solidFill>
                            <a:srgbClr val="18344B"/>
                          </a:solidFill>
                          <a:latin typeface="Arial"/>
                          <a:ea typeface="Arial"/>
                          <a:cs typeface="Arial"/>
                        </a:rPr>
                        <a:t>Estimated six-month net revenue</a:t>
                      </a:r>
                    </a:p>
                  </a:txBody>
                  <a:tcPr marL="114300" marR="114300" marT="66675" marB="66675" anchor="ctr">
                    <a:solidFill>
                      <a:srgbClr val="F1F5F6"/>
                    </a:solidFill>
                  </a:tcPr>
                </a:tc>
                <a:tc>
                  <a:txBody>
                    <a:bodyPr>
                      <a:noAutofit/>
                    </a:bodyPr>
                    <a:lstStyle/>
                    <a:p>
                      <a:r>
                        <a:rPr sz="1875" b="0">
                          <a:solidFill>
                            <a:srgbClr val="18344B"/>
                          </a:solidFill>
                          <a:latin typeface="Arial"/>
                          <a:ea typeface="Arial"/>
                          <a:cs typeface="Arial"/>
                        </a:rPr>
                        <a:t>£217k</a:t>
                      </a:r>
                    </a:p>
                  </a:txBody>
                  <a:tcPr marL="114300" marR="114300" marT="66675" marB="66675" anchor="ctr">
                    <a:solidFill>
                      <a:srgbClr val="F1F5F6"/>
                    </a:solidFill>
                  </a:tcPr>
                </a:tc>
                <a:tc>
                  <a:txBody>
                    <a:bodyPr>
                      <a:noAutofit/>
                    </a:bodyPr>
                    <a:lstStyle/>
                    <a:p>
                      <a:r>
                        <a:rPr sz="1875" b="0">
                          <a:solidFill>
                            <a:srgbClr val="18344B"/>
                          </a:solidFill>
                          <a:latin typeface="Arial"/>
                          <a:ea typeface="Arial"/>
                          <a:cs typeface="Arial"/>
                        </a:rPr>
                        <a:t>£151k to £289k</a:t>
                      </a:r>
                    </a:p>
                  </a:txBody>
                  <a:tcPr marL="114300" marR="114300" marT="66675" marB="66675" anchor="ctr">
                    <a:solidFill>
                      <a:srgbClr val="F1F5F6"/>
                    </a:solidFill>
                  </a:tcPr>
                </a:tc>
              </a:tr>
            </a:tbl>
          </a:graphicData>
        </a:graphic>
      </p:graphicFrame>
      <p:sp>
        <p:nvSpPr>
          <p:cNvPr id="5" name="">
            <a:extLst xmlns:a="http://schemas.openxmlformats.org/drawingml/2006/main">
              <a:ext uri="{FF2B5EF4-FFF2-40B4-BE49-F238E27FC236}">
                <a16:creationId xmlns:a16="http://schemas.microsoft.com/office/drawing/2014/main" id="{36E0E987-68F3-40A8-90EA-6912C54B1FA9}"/>
              </a:ext>
            </a:extLst>
          </p:cNvPr>
          <p:cNvSpPr>
            <a:spLocks xmlns:a="http://schemas.openxmlformats.org/drawingml/2006/main" noGrp="1"/>
          </p:cNvSpPr>
          <p:nvPr/>
        </p:nvSpPr>
        <p:spPr>
          <a:xfrm xmlns:a="http://schemas.openxmlformats.org/drawingml/2006/main">
            <a:off x="609600" y="489585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8344B"/>
                </a:solidFill>
                <a:latin typeface="Arial"/>
                <a:ea typeface="Arial"/>
                <a:cs typeface="Arial"/>
              </a:defRPr>
            </a:pPr>
            <a:r>
              <a:rPr sz="2400" b="1">
                <a:solidFill>
                  <a:srgbClr val="18344B"/>
                </a:solidFill>
                <a:latin typeface="Arial"/>
                <a:ea typeface="Arial"/>
                <a:cs typeface="Arial"/>
              </a:rPr>
              <a:t>Standard acquisition elasticity: -1.12</a:t>
            </a:r>
          </a:p>
        </p:txBody>
      </p:sp>
      <p:sp>
        <p:nvSpPr>
          <p:cNvPr id="6" name="">
            <a:extLst xmlns:a="http://schemas.openxmlformats.org/drawingml/2006/main">
              <a:ext uri="{FF2B5EF4-FFF2-40B4-BE49-F238E27FC236}">
                <a16:creationId xmlns:a16="http://schemas.microsoft.com/office/drawing/2014/main" id="{3E879526-8421-4C77-A3BE-8BE97699628F}"/>
              </a:ext>
            </a:extLst>
          </p:cNvPr>
          <p:cNvSpPr>
            <a:spLocks xmlns:a="http://schemas.openxmlformats.org/drawingml/2006/main" noGrp="1"/>
          </p:cNvSpPr>
          <p:nvPr/>
        </p:nvSpPr>
        <p:spPr>
          <a:xfrm xmlns:a="http://schemas.openxmlformats.org/drawingml/2006/main">
            <a:off x="609600" y="55245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674"/>
                </a:solidFill>
                <a:latin typeface="Arial"/>
                <a:ea typeface="Arial"/>
                <a:cs typeface="Arial"/>
              </a:defRPr>
            </a:pPr>
            <a:r>
              <a:rPr sz="1875" b="0">
                <a:solidFill>
                  <a:srgbClr val="536674"/>
                </a:solidFill>
                <a:latin typeface="Arial"/>
                <a:ea typeface="Arial"/>
                <a:cs typeface="Arial"/>
              </a:rPr>
              <a:t>The evidence covers one £2 policy in positive-gap markets. Repeat repricing and precise site responses remain uncertain.</a:t>
            </a:r>
          </a:p>
        </p:txBody>
      </p:sp>
    </p:spTree>
    <p:extLst>
      <p:ext uri="{BB962C8B-B14F-4D97-AF65-F5344CB8AC3E}">
        <p14:creationId xmlns:p14="http://schemas.microsoft.com/office/powerpoint/2010/main" val="9754034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FDA86A-118B-496B-91D2-2C5550AB47F8}"/>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8344B"/>
                </a:solidFill>
                <a:latin typeface="Arial"/>
                <a:ea typeface="Arial"/>
                <a:cs typeface="Arial"/>
              </a:defRPr>
            </a:pPr>
            <a:r>
              <a:rPr sz="3225" b="1">
                <a:solidFill>
                  <a:srgbClr val="18344B"/>
                </a:solidFill>
                <a:latin typeface="Arial"/>
                <a:ea typeface="Arial"/>
                <a:cs typeface="Arial"/>
              </a:rPr>
              <a:t>Estate-wide increases trade yield for fewer members</a:t>
            </a:r>
          </a:p>
        </p:txBody>
      </p:sp>
      <p:sp>
        <p:nvSpPr>
          <p:cNvPr id="2" name="">
            <a:extLst xmlns:a="http://schemas.openxmlformats.org/drawingml/2006/main">
              <a:ext uri="{FF2B5EF4-FFF2-40B4-BE49-F238E27FC236}">
                <a16:creationId xmlns:a16="http://schemas.microsoft.com/office/drawing/2014/main" id="{840A926C-9764-44B1-AB25-49216A22E4B0}"/>
              </a:ext>
            </a:extLst>
          </p:cNvPr>
          <p:cNvSpPr>
            <a:spLocks xmlns:a="http://schemas.openxmlformats.org/drawingml/2006/main" noGrp="1"/>
          </p:cNvSpPr>
          <p:nvPr/>
        </p:nvSpPr>
        <p:spPr>
          <a:xfrm xmlns:a="http://schemas.openxmlformats.org/drawingml/2006/main">
            <a:off x="609600" y="6238875"/>
            <a:ext cx="10629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Jan–Dec 2026 Base scenarios across all 80 gyms. Same counterfactual. Ranges reflect conditional parameter uncertainty.</a:t>
            </a:r>
          </a:p>
        </p:txBody>
      </p:sp>
      <p:sp>
        <p:nvSpPr>
          <p:cNvPr id="3" name="">
            <a:extLst xmlns:a="http://schemas.openxmlformats.org/drawingml/2006/main">
              <a:ext uri="{FF2B5EF4-FFF2-40B4-BE49-F238E27FC236}">
                <a16:creationId xmlns:a16="http://schemas.microsoft.com/office/drawing/2014/main" id="{AD3CBE47-5355-4A03-9DB2-8AD4469FFE46}"/>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06</a:t>
            </a:r>
          </a:p>
        </p:txBody>
      </p:sp>
      <p:graphicFrame>
        <p:nvGraphicFramePr>
          <p:cNvPr id="10" name=""/>
          <p:cNvGraphicFramePr/>
          <p:nvPr/>
        </p:nvGraphicFramePr>
        <p:xfrm>
          <a:off xmlns:a="http://schemas.openxmlformats.org/drawingml/2006/main" x="609600" y="1790700"/>
          <a:ext xmlns:a="http://schemas.openxmlformats.org/drawingml/2006/main" cx="10972800" cy="3028950"/>
        </p:xfrm>
        <a:graphic xmlns:a="http://schemas.openxmlformats.org/drawingml/2006/main">
          <a:graphicData uri="http://schemas.openxmlformats.org/drawingml/2006/table">
            <a:tbl>
              <a:tblPr/>
              <a:tblGrid>
                <a:gridCol w="1428750"/>
                <a:gridCol w="2238375"/>
                <a:gridCol w="3048000"/>
                <a:gridCol w="1952625"/>
                <a:gridCol w="2305050"/>
              </a:tblGrid>
              <a:tr h="605790">
                <a:tc>
                  <a:txBody>
                    <a:bodyPr>
                      <a:noAutofit/>
                    </a:bodyPr>
                    <a:lstStyle/>
                    <a:p>
                      <a:r>
                        <a:rPr sz="1725" b="1">
                          <a:solidFill>
                            <a:srgbClr val="FFFFFF"/>
                          </a:solidFill>
                          <a:latin typeface="Arial"/>
                          <a:ea typeface="Arial"/>
                          <a:cs typeface="Arial"/>
                        </a:rPr>
                        <a:t>Standard</a:t>
                      </a:r>
                    </a:p>
                    <a:p>
                      <a:r>
                        <a:rPr sz="1725" b="1">
                          <a:solidFill>
                            <a:srgbClr val="FFFFFF"/>
                          </a:solidFill>
                          <a:latin typeface="Arial"/>
                          <a:ea typeface="Arial"/>
                          <a:cs typeface="Arial"/>
                        </a:rPr>
                        <a:t>increase</a:t>
                      </a:r>
                    </a:p>
                  </a:txBody>
                  <a:tcPr marL="114300" marR="114300" marT="66675" marB="66675" anchor="ctr">
                    <a:solidFill>
                      <a:srgbClr val="18344B"/>
                    </a:solidFill>
                  </a:tcPr>
                </a:tc>
                <a:tc>
                  <a:txBody>
                    <a:bodyPr>
                      <a:noAutofit/>
                    </a:bodyPr>
                    <a:lstStyle/>
                    <a:p>
                      <a:r>
                        <a:rPr sz="1725" b="1">
                          <a:solidFill>
                            <a:srgbClr val="FFFFFF"/>
                          </a:solidFill>
                          <a:latin typeface="Arial"/>
                          <a:ea typeface="Arial"/>
                          <a:cs typeface="Arial"/>
                        </a:rPr>
                        <a:t>12-month</a:t>
                      </a:r>
                    </a:p>
                    <a:p>
                      <a:r>
                        <a:rPr sz="1725" b="1">
                          <a:solidFill>
                            <a:srgbClr val="FFFFFF"/>
                          </a:solidFill>
                          <a:latin typeface="Arial"/>
                          <a:ea typeface="Arial"/>
                          <a:cs typeface="Arial"/>
                        </a:rPr>
                        <a:t>net uplift</a:t>
                      </a:r>
                    </a:p>
                  </a:txBody>
                  <a:tcPr marL="114300" marR="114300" marT="66675" marB="66675" anchor="ctr">
                    <a:solidFill>
                      <a:srgbClr val="18344B"/>
                    </a:solidFill>
                  </a:tcPr>
                </a:tc>
                <a:tc>
                  <a:txBody>
                    <a:bodyPr>
                      <a:noAutofit/>
                    </a:bodyPr>
                    <a:lstStyle/>
                    <a:p>
                      <a:r>
                        <a:rPr sz="1725" b="1">
                          <a:solidFill>
                            <a:srgbClr val="FFFFFF"/>
                          </a:solidFill>
                          <a:latin typeface="Arial"/>
                          <a:ea typeface="Arial"/>
                          <a:cs typeface="Arial"/>
                        </a:rPr>
                        <a:t>95% parameter</a:t>
                      </a:r>
                    </a:p>
                    <a:p>
                      <a:r>
                        <a:rPr sz="1725" b="1">
                          <a:solidFill>
                            <a:srgbClr val="FFFFFF"/>
                          </a:solidFill>
                          <a:latin typeface="Arial"/>
                          <a:ea typeface="Arial"/>
                          <a:cs typeface="Arial"/>
                        </a:rPr>
                        <a:t>range</a:t>
                      </a:r>
                    </a:p>
                  </a:txBody>
                  <a:tcPr marL="114300" marR="114300" marT="66675" marB="66675" anchor="ctr">
                    <a:solidFill>
                      <a:srgbClr val="18344B"/>
                    </a:solidFill>
                  </a:tcPr>
                </a:tc>
                <a:tc>
                  <a:txBody>
                    <a:bodyPr>
                      <a:noAutofit/>
                    </a:bodyPr>
                    <a:lstStyle/>
                    <a:p>
                      <a:r>
                        <a:rPr sz="1725" b="1">
                          <a:solidFill>
                            <a:srgbClr val="FFFFFF"/>
                          </a:solidFill>
                          <a:latin typeface="Arial"/>
                          <a:ea typeface="Arial"/>
                          <a:cs typeface="Arial"/>
                        </a:rPr>
                        <a:t>December</a:t>
                      </a:r>
                    </a:p>
                    <a:p>
                      <a:r>
                        <a:rPr sz="1725" b="1">
                          <a:solidFill>
                            <a:srgbClr val="FFFFFF"/>
                          </a:solidFill>
                          <a:latin typeface="Arial"/>
                          <a:ea typeface="Arial"/>
                          <a:cs typeface="Arial"/>
                        </a:rPr>
                        <a:t>member impact</a:t>
                      </a:r>
                    </a:p>
                  </a:txBody>
                  <a:tcPr marL="114300" marR="114300" marT="66675" marB="66675" anchor="ctr">
                    <a:solidFill>
                      <a:srgbClr val="18344B"/>
                    </a:solidFill>
                  </a:tcPr>
                </a:tc>
                <a:tc>
                  <a:txBody>
                    <a:bodyPr>
                      <a:noAutofit/>
                    </a:bodyPr>
                    <a:lstStyle/>
                    <a:p>
                      <a:r>
                        <a:rPr sz="1725" b="1">
                          <a:solidFill>
                            <a:srgbClr val="FFFFFF"/>
                          </a:solidFill>
                          <a:latin typeface="Arial"/>
                          <a:ea typeface="Arial"/>
                          <a:cs typeface="Arial"/>
                        </a:rPr>
                        <a:t>December</a:t>
                      </a:r>
                    </a:p>
                    <a:p>
                      <a:r>
                        <a:rPr sz="1725" b="1">
                          <a:solidFill>
                            <a:srgbClr val="FFFFFF"/>
                          </a:solidFill>
                          <a:latin typeface="Arial"/>
                          <a:ea typeface="Arial"/>
                          <a:cs typeface="Arial"/>
                        </a:rPr>
                        <a:t>expected members</a:t>
                      </a:r>
                    </a:p>
                  </a:txBody>
                  <a:tcPr marL="114300" marR="114300" marT="66675" marB="66675" anchor="ctr">
                    <a:solidFill>
                      <a:srgbClr val="18344B"/>
                    </a:solidFill>
                  </a:tcPr>
                </a:tc>
              </a:tr>
              <a:tr h="605790">
                <a:tc>
                  <a:txBody>
                    <a:bodyPr>
                      <a:noAutofit/>
                    </a:bodyPr>
                    <a:lstStyle/>
                    <a:p>
                      <a:r>
                        <a:rPr sz="1725" b="0">
                          <a:solidFill>
                            <a:srgbClr val="18344B"/>
                          </a:solidFill>
                          <a:latin typeface="Arial"/>
                          <a:ea typeface="Arial"/>
                          <a:cs typeface="Arial"/>
                        </a:rPr>
                        <a:t>No increase</a:t>
                      </a:r>
                    </a:p>
                  </a:txBody>
                  <a:tcPr marL="114300" marR="114300" marT="66675" marB="66675" anchor="ctr">
                    <a:solidFill>
                      <a:srgbClr val="FFFFFF"/>
                    </a:solidFill>
                  </a:tcPr>
                </a:tc>
                <a:tc>
                  <a:txBody>
                    <a:bodyPr>
                      <a:noAutofit/>
                    </a:bodyPr>
                    <a:lstStyle/>
                    <a:p>
                      <a:r>
                        <a:rPr sz="1725" b="0">
                          <a:solidFill>
                            <a:srgbClr val="18344B"/>
                          </a:solidFill>
                          <a:latin typeface="Arial"/>
                          <a:ea typeface="Arial"/>
                          <a:cs typeface="Arial"/>
                        </a:rPr>
                        <a:t>£0.00m</a:t>
                      </a:r>
                    </a:p>
                  </a:txBody>
                  <a:tcPr marL="114300" marR="114300" marT="66675" marB="66675" anchor="ctr">
                    <a:solidFill>
                      <a:srgbClr val="FFFFFF"/>
                    </a:solidFill>
                  </a:tcPr>
                </a:tc>
                <a:tc>
                  <a:txBody>
                    <a:bodyPr>
                      <a:noAutofit/>
                    </a:bodyPr>
                    <a:lstStyle/>
                    <a:p>
                      <a:r>
                        <a:rPr sz="1725" b="0">
                          <a:solidFill>
                            <a:srgbClr val="18344B"/>
                          </a:solidFill>
                          <a:latin typeface="Arial"/>
                          <a:ea typeface="Arial"/>
                          <a:cs typeface="Arial"/>
                        </a:rPr>
                        <a:t>£0.00m to £0.00m</a:t>
                      </a:r>
                    </a:p>
                  </a:txBody>
                  <a:tcPr marL="114300" marR="114300" marT="66675" marB="66675" anchor="ctr">
                    <a:solidFill>
                      <a:srgbClr val="FFFFFF"/>
                    </a:solidFill>
                  </a:tcPr>
                </a:tc>
                <a:tc>
                  <a:txBody>
                    <a:bodyPr>
                      <a:noAutofit/>
                    </a:bodyPr>
                    <a:lstStyle/>
                    <a:p>
                      <a:r>
                        <a:rPr sz="1725" b="0">
                          <a:solidFill>
                            <a:srgbClr val="18344B"/>
                          </a:solidFill>
                          <a:latin typeface="Arial"/>
                          <a:ea typeface="Arial"/>
                          <a:cs typeface="Arial"/>
                        </a:rPr>
                        <a:t>0.00%</a:t>
                      </a:r>
                    </a:p>
                  </a:txBody>
                  <a:tcPr marL="114300" marR="114300" marT="66675" marB="66675" anchor="ctr">
                    <a:solidFill>
                      <a:srgbClr val="FFFFFF"/>
                    </a:solidFill>
                  </a:tcPr>
                </a:tc>
                <a:tc>
                  <a:txBody>
                    <a:bodyPr>
                      <a:noAutofit/>
                    </a:bodyPr>
                    <a:lstStyle/>
                    <a:p>
                      <a:r>
                        <a:rPr sz="1725" b="0">
                          <a:solidFill>
                            <a:srgbClr val="18344B"/>
                          </a:solidFill>
                          <a:latin typeface="Arial"/>
                          <a:ea typeface="Arial"/>
                          <a:cs typeface="Arial"/>
                        </a:rPr>
                        <a:t>395,423</a:t>
                      </a:r>
                    </a:p>
                  </a:txBody>
                  <a:tcPr marL="114300" marR="114300" marT="66675" marB="66675" anchor="ctr">
                    <a:solidFill>
                      <a:srgbClr val="FFFFFF"/>
                    </a:solidFill>
                  </a:tcPr>
                </a:tc>
              </a:tr>
              <a:tr h="605790">
                <a:tc>
                  <a:txBody>
                    <a:bodyPr>
                      <a:noAutofit/>
                    </a:bodyPr>
                    <a:lstStyle/>
                    <a:p>
                      <a:r>
                        <a:rPr sz="1725" b="0">
                          <a:solidFill>
                            <a:srgbClr val="18344B"/>
                          </a:solidFill>
                          <a:latin typeface="Arial"/>
                          <a:ea typeface="Arial"/>
                          <a:cs typeface="Arial"/>
                        </a:rPr>
                        <a:t>+£1</a:t>
                      </a:r>
                    </a:p>
                  </a:txBody>
                  <a:tcPr marL="114300" marR="114300" marT="66675" marB="66675" anchor="ctr">
                    <a:solidFill>
                      <a:srgbClr val="F1F5F6"/>
                    </a:solidFill>
                  </a:tcPr>
                </a:tc>
                <a:tc>
                  <a:txBody>
                    <a:bodyPr>
                      <a:noAutofit/>
                    </a:bodyPr>
                    <a:lstStyle/>
                    <a:p>
                      <a:r>
                        <a:rPr sz="1725" b="0">
                          <a:solidFill>
                            <a:srgbClr val="18344B"/>
                          </a:solidFill>
                          <a:latin typeface="Arial"/>
                          <a:ea typeface="Arial"/>
                          <a:cs typeface="Arial"/>
                        </a:rPr>
                        <a:t>£1.06m</a:t>
                      </a:r>
                    </a:p>
                  </a:txBody>
                  <a:tcPr marL="114300" marR="114300" marT="66675" marB="66675" anchor="ctr">
                    <a:solidFill>
                      <a:srgbClr val="F1F5F6"/>
                    </a:solidFill>
                  </a:tcPr>
                </a:tc>
                <a:tc>
                  <a:txBody>
                    <a:bodyPr>
                      <a:noAutofit/>
                    </a:bodyPr>
                    <a:lstStyle/>
                    <a:p>
                      <a:r>
                        <a:rPr sz="1725" b="0">
                          <a:solidFill>
                            <a:srgbClr val="18344B"/>
                          </a:solidFill>
                          <a:latin typeface="Arial"/>
                          <a:ea typeface="Arial"/>
                          <a:cs typeface="Arial"/>
                        </a:rPr>
                        <a:t>£0.44m to £1.66m</a:t>
                      </a:r>
                    </a:p>
                  </a:txBody>
                  <a:tcPr marL="114300" marR="114300" marT="66675" marB="66675" anchor="ctr">
                    <a:solidFill>
                      <a:srgbClr val="F1F5F6"/>
                    </a:solidFill>
                  </a:tcPr>
                </a:tc>
                <a:tc>
                  <a:txBody>
                    <a:bodyPr>
                      <a:noAutofit/>
                    </a:bodyPr>
                    <a:lstStyle/>
                    <a:p>
                      <a:r>
                        <a:rPr sz="1725" b="0">
                          <a:solidFill>
                            <a:srgbClr val="18344B"/>
                          </a:solidFill>
                          <a:latin typeface="Arial"/>
                          <a:ea typeface="Arial"/>
                          <a:cs typeface="Arial"/>
                        </a:rPr>
                        <a:t>-2.04%</a:t>
                      </a:r>
                    </a:p>
                  </a:txBody>
                  <a:tcPr marL="114300" marR="114300" marT="66675" marB="66675" anchor="ctr">
                    <a:solidFill>
                      <a:srgbClr val="F1F5F6"/>
                    </a:solidFill>
                  </a:tcPr>
                </a:tc>
                <a:tc>
                  <a:txBody>
                    <a:bodyPr>
                      <a:noAutofit/>
                    </a:bodyPr>
                    <a:lstStyle/>
                    <a:p>
                      <a:r>
                        <a:rPr sz="1725" b="0">
                          <a:solidFill>
                            <a:srgbClr val="18344B"/>
                          </a:solidFill>
                          <a:latin typeface="Arial"/>
                          <a:ea typeface="Arial"/>
                          <a:cs typeface="Arial"/>
                        </a:rPr>
                        <a:t>387,365</a:t>
                      </a:r>
                    </a:p>
                  </a:txBody>
                  <a:tcPr marL="114300" marR="114300" marT="66675" marB="66675" anchor="ctr">
                    <a:solidFill>
                      <a:srgbClr val="F1F5F6"/>
                    </a:solidFill>
                  </a:tcPr>
                </a:tc>
              </a:tr>
              <a:tr h="605790">
                <a:tc>
                  <a:txBody>
                    <a:bodyPr>
                      <a:noAutofit/>
                    </a:bodyPr>
                    <a:lstStyle/>
                    <a:p>
                      <a:r>
                        <a:rPr sz="1725" b="0">
                          <a:solidFill>
                            <a:srgbClr val="18344B"/>
                          </a:solidFill>
                          <a:latin typeface="Arial"/>
                          <a:ea typeface="Arial"/>
                          <a:cs typeface="Arial"/>
                        </a:rPr>
                        <a:t>+£2</a:t>
                      </a:r>
                    </a:p>
                  </a:txBody>
                  <a:tcPr marL="114300" marR="114300" marT="66675" marB="66675" anchor="ctr">
                    <a:solidFill>
                      <a:srgbClr val="FFFFFF"/>
                    </a:solidFill>
                  </a:tcPr>
                </a:tc>
                <a:tc>
                  <a:txBody>
                    <a:bodyPr>
                      <a:noAutofit/>
                    </a:bodyPr>
                    <a:lstStyle/>
                    <a:p>
                      <a:r>
                        <a:rPr sz="1725" b="0">
                          <a:solidFill>
                            <a:srgbClr val="18344B"/>
                          </a:solidFill>
                          <a:latin typeface="Arial"/>
                          <a:ea typeface="Arial"/>
                          <a:cs typeface="Arial"/>
                        </a:rPr>
                        <a:t>£2.08m</a:t>
                      </a:r>
                    </a:p>
                  </a:txBody>
                  <a:tcPr marL="114300" marR="114300" marT="66675" marB="66675" anchor="ctr">
                    <a:solidFill>
                      <a:srgbClr val="FFFFFF"/>
                    </a:solidFill>
                  </a:tcPr>
                </a:tc>
                <a:tc>
                  <a:txBody>
                    <a:bodyPr>
                      <a:noAutofit/>
                    </a:bodyPr>
                    <a:lstStyle/>
                    <a:p>
                      <a:r>
                        <a:rPr sz="1725" b="0">
                          <a:solidFill>
                            <a:srgbClr val="18344B"/>
                          </a:solidFill>
                          <a:latin typeface="Arial"/>
                          <a:ea typeface="Arial"/>
                          <a:cs typeface="Arial"/>
                        </a:rPr>
                        <a:t>£0.88m to £3.28m</a:t>
                      </a:r>
                    </a:p>
                  </a:txBody>
                  <a:tcPr marL="114300" marR="114300" marT="66675" marB="66675" anchor="ctr">
                    <a:solidFill>
                      <a:srgbClr val="FFFFFF"/>
                    </a:solidFill>
                  </a:tcPr>
                </a:tc>
                <a:tc>
                  <a:txBody>
                    <a:bodyPr>
                      <a:noAutofit/>
                    </a:bodyPr>
                    <a:lstStyle/>
                    <a:p>
                      <a:r>
                        <a:rPr sz="1725" b="0">
                          <a:solidFill>
                            <a:srgbClr val="18344B"/>
                          </a:solidFill>
                          <a:latin typeface="Arial"/>
                          <a:ea typeface="Arial"/>
                          <a:cs typeface="Arial"/>
                        </a:rPr>
                        <a:t>-3.92%</a:t>
                      </a:r>
                    </a:p>
                  </a:txBody>
                  <a:tcPr marL="114300" marR="114300" marT="66675" marB="66675" anchor="ctr">
                    <a:solidFill>
                      <a:srgbClr val="FFFFFF"/>
                    </a:solidFill>
                  </a:tcPr>
                </a:tc>
                <a:tc>
                  <a:txBody>
                    <a:bodyPr>
                      <a:noAutofit/>
                    </a:bodyPr>
                    <a:lstStyle/>
                    <a:p>
                      <a:r>
                        <a:rPr sz="1725" b="0">
                          <a:solidFill>
                            <a:srgbClr val="18344B"/>
                          </a:solidFill>
                          <a:latin typeface="Arial"/>
                          <a:ea typeface="Arial"/>
                          <a:cs typeface="Arial"/>
                        </a:rPr>
                        <a:t>379,920</a:t>
                      </a:r>
                    </a:p>
                  </a:txBody>
                  <a:tcPr marL="114300" marR="114300" marT="66675" marB="66675" anchor="ctr">
                    <a:solidFill>
                      <a:srgbClr val="FFFFFF"/>
                    </a:solidFill>
                  </a:tcPr>
                </a:tc>
              </a:tr>
              <a:tr h="605790">
                <a:tc>
                  <a:txBody>
                    <a:bodyPr>
                      <a:noAutofit/>
                    </a:bodyPr>
                    <a:lstStyle/>
                    <a:p>
                      <a:r>
                        <a:rPr sz="1725" b="0">
                          <a:solidFill>
                            <a:srgbClr val="18344B"/>
                          </a:solidFill>
                          <a:latin typeface="Arial"/>
                          <a:ea typeface="Arial"/>
                          <a:cs typeface="Arial"/>
                        </a:rPr>
                        <a:t>+£3</a:t>
                      </a:r>
                    </a:p>
                  </a:txBody>
                  <a:tcPr marL="114300" marR="114300" marT="66675" marB="66675" anchor="ctr">
                    <a:solidFill>
                      <a:srgbClr val="F1F5F6"/>
                    </a:solidFill>
                  </a:tcPr>
                </a:tc>
                <a:tc>
                  <a:txBody>
                    <a:bodyPr>
                      <a:noAutofit/>
                    </a:bodyPr>
                    <a:lstStyle/>
                    <a:p>
                      <a:r>
                        <a:rPr sz="1725" b="0">
                          <a:solidFill>
                            <a:srgbClr val="18344B"/>
                          </a:solidFill>
                          <a:latin typeface="Arial"/>
                          <a:ea typeface="Arial"/>
                          <a:cs typeface="Arial"/>
                        </a:rPr>
                        <a:t>£3.08m</a:t>
                      </a:r>
                    </a:p>
                  </a:txBody>
                  <a:tcPr marL="114300" marR="114300" marT="66675" marB="66675" anchor="ctr">
                    <a:solidFill>
                      <a:srgbClr val="F1F5F6"/>
                    </a:solidFill>
                  </a:tcPr>
                </a:tc>
                <a:tc>
                  <a:txBody>
                    <a:bodyPr>
                      <a:noAutofit/>
                    </a:bodyPr>
                    <a:lstStyle/>
                    <a:p>
                      <a:r>
                        <a:rPr sz="1725" b="0">
                          <a:solidFill>
                            <a:srgbClr val="18344B"/>
                          </a:solidFill>
                          <a:latin typeface="Arial"/>
                          <a:ea typeface="Arial"/>
                          <a:cs typeface="Arial"/>
                        </a:rPr>
                        <a:t>£1.33m to £4.86m</a:t>
                      </a:r>
                    </a:p>
                  </a:txBody>
                  <a:tcPr marL="114300" marR="114300" marT="66675" marB="66675" anchor="ctr">
                    <a:solidFill>
                      <a:srgbClr val="F1F5F6"/>
                    </a:solidFill>
                  </a:tcPr>
                </a:tc>
                <a:tc>
                  <a:txBody>
                    <a:bodyPr>
                      <a:noAutofit/>
                    </a:bodyPr>
                    <a:lstStyle/>
                    <a:p>
                      <a:r>
                        <a:rPr sz="1725" b="0">
                          <a:solidFill>
                            <a:srgbClr val="18344B"/>
                          </a:solidFill>
                          <a:latin typeface="Arial"/>
                          <a:ea typeface="Arial"/>
                          <a:cs typeface="Arial"/>
                        </a:rPr>
                        <a:t>-5.67%</a:t>
                      </a:r>
                    </a:p>
                  </a:txBody>
                  <a:tcPr marL="114300" marR="114300" marT="66675" marB="66675" anchor="ctr">
                    <a:solidFill>
                      <a:srgbClr val="F1F5F6"/>
                    </a:solidFill>
                  </a:tcPr>
                </a:tc>
                <a:tc>
                  <a:txBody>
                    <a:bodyPr>
                      <a:noAutofit/>
                    </a:bodyPr>
                    <a:lstStyle/>
                    <a:p>
                      <a:r>
                        <a:rPr sz="1725" b="0">
                          <a:solidFill>
                            <a:srgbClr val="18344B"/>
                          </a:solidFill>
                          <a:latin typeface="Arial"/>
                          <a:ea typeface="Arial"/>
                          <a:cs typeface="Arial"/>
                        </a:rPr>
                        <a:t>373,020</a:t>
                      </a:r>
                    </a:p>
                  </a:txBody>
                  <a:tcPr marL="114300" marR="114300" marT="66675" marB="66675" anchor="ctr">
                    <a:solidFill>
                      <a:srgbClr val="F1F5F6"/>
                    </a:solidFill>
                  </a:tcPr>
                </a:tc>
              </a:tr>
            </a:tbl>
          </a:graphicData>
        </a:graphic>
      </p:graphicFrame>
      <p:sp>
        <p:nvSpPr>
          <p:cNvPr id="5" name="">
            <a:extLst xmlns:a="http://schemas.openxmlformats.org/drawingml/2006/main">
              <a:ext uri="{FF2B5EF4-FFF2-40B4-BE49-F238E27FC236}">
                <a16:creationId xmlns:a16="http://schemas.microsoft.com/office/drawing/2014/main" id="{81085C53-1FE2-456C-81B9-A0671CECCDAE}"/>
              </a:ext>
            </a:extLst>
          </p:cNvPr>
          <p:cNvSpPr>
            <a:spLocks xmlns:a="http://schemas.openxmlformats.org/drawingml/2006/main" noGrp="1"/>
          </p:cNvSpPr>
          <p:nvPr/>
        </p:nvSpPr>
        <p:spPr>
          <a:xfrm xmlns:a="http://schemas.openxmlformats.org/drawingml/2006/main">
            <a:off x="609600" y="52006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8344B"/>
                </a:solidFill>
                <a:latin typeface="Arial"/>
                <a:ea typeface="Arial"/>
                <a:cs typeface="Arial"/>
              </a:defRPr>
            </a:pPr>
            <a:r>
              <a:rPr sz="2100" b="1">
                <a:solidFill>
                  <a:srgbClr val="18344B"/>
                </a:solidFill>
                <a:latin typeface="Arial"/>
                <a:ea typeface="Arial"/>
                <a:cs typeface="Arial"/>
              </a:rPr>
              <a:t>Higher modelled revenue accompanies fewer December members at every increase.</a:t>
            </a:r>
          </a:p>
        </p:txBody>
      </p:sp>
      <p:sp>
        <p:nvSpPr>
          <p:cNvPr id="6" name="">
            <a:extLst xmlns:a="http://schemas.openxmlformats.org/drawingml/2006/main">
              <a:ext uri="{FF2B5EF4-FFF2-40B4-BE49-F238E27FC236}">
                <a16:creationId xmlns:a16="http://schemas.microsoft.com/office/drawing/2014/main" id="{A7FF2FDC-F704-4F09-A3FC-601DCB31BE75}"/>
              </a:ext>
            </a:extLst>
          </p:cNvPr>
          <p:cNvSpPr>
            <a:spLocks xmlns:a="http://schemas.openxmlformats.org/drawingml/2006/main" noGrp="1"/>
          </p:cNvSpPr>
          <p:nvPr/>
        </p:nvSpPr>
        <p:spPr>
          <a:xfrm xmlns:a="http://schemas.openxmlformats.org/drawingml/2006/main">
            <a:off x="609600" y="57626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674"/>
                </a:solidFill>
                <a:latin typeface="Arial"/>
                <a:ea typeface="Arial"/>
                <a:cs typeface="Arial"/>
              </a:defRPr>
            </a:pPr>
            <a:r>
              <a:rPr sz="1725" b="0">
                <a:solidFill>
                  <a:srgbClr val="536674"/>
                </a:solidFill>
                <a:latin typeface="Arial"/>
                <a:ea typeface="Arial"/>
                <a:cs typeface="Arial"/>
              </a:rPr>
              <a:t>+£3 is an analytical comparison. Standard reaches the unchanged Plus price at 20 gyms.</a:t>
            </a:r>
          </a:p>
        </p:txBody>
      </p:sp>
    </p:spTree>
    <p:extLst>
      <p:ext uri="{BB962C8B-B14F-4D97-AF65-F5344CB8AC3E}">
        <p14:creationId xmlns:p14="http://schemas.microsoft.com/office/powerpoint/2010/main" val="15840619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8B2DF04-9E63-44CD-89D5-6443914326D1}"/>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8344B"/>
                </a:solidFill>
                <a:latin typeface="Arial"/>
                <a:ea typeface="Arial"/>
                <a:cs typeface="Arial"/>
              </a:defRPr>
            </a:pPr>
            <a:r>
              <a:rPr sz="3225" b="1">
                <a:solidFill>
                  <a:srgbClr val="18344B"/>
                </a:solidFill>
                <a:latin typeface="Arial"/>
                <a:ea typeface="Arial"/>
                <a:cs typeface="Arial"/>
              </a:rPr>
              <a:t>Only 11 gyms qualify for conditional raises</a:t>
            </a:r>
          </a:p>
        </p:txBody>
      </p:sp>
      <p:sp>
        <p:nvSpPr>
          <p:cNvPr id="2" name="">
            <a:extLst xmlns:a="http://schemas.openxmlformats.org/drawingml/2006/main">
              <a:ext uri="{FF2B5EF4-FFF2-40B4-BE49-F238E27FC236}">
                <a16:creationId xmlns:a16="http://schemas.microsoft.com/office/drawing/2014/main" id="{AF745C37-C734-443F-AEC6-92D13E168FAB}"/>
              </a:ext>
            </a:extLst>
          </p:cNvPr>
          <p:cNvSpPr>
            <a:spLocks xmlns:a="http://schemas.openxmlformats.org/drawingml/2006/main" noGrp="1"/>
          </p:cNvSpPr>
          <p:nvPr/>
        </p:nvSpPr>
        <p:spPr>
          <a:xfrm xmlns:a="http://schemas.openxmlformats.org/drawingml/2006/main">
            <a:off x="609600" y="6238875"/>
            <a:ext cx="10629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Saved Phase 7 actions. Every increase remains conditional on controlled testing. TEST FIRST gains stay outside the raise portfolio.</a:t>
            </a:r>
          </a:p>
        </p:txBody>
      </p:sp>
      <p:sp>
        <p:nvSpPr>
          <p:cNvPr id="3" name="">
            <a:extLst xmlns:a="http://schemas.openxmlformats.org/drawingml/2006/main">
              <a:ext uri="{FF2B5EF4-FFF2-40B4-BE49-F238E27FC236}">
                <a16:creationId xmlns:a16="http://schemas.microsoft.com/office/drawing/2014/main" id="{3780FDCF-098D-45CB-81BA-14B623858F35}"/>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07</a:t>
            </a:r>
          </a:p>
        </p:txBody>
      </p:sp>
      <p:graphicFrame>
        <p:nvGraphicFramePr>
          <p:cNvPr id="10" name="Chart"/>
          <p:cNvGraphicFramePr/>
          <p:nvPr/>
        </p:nvGraphicFramePr>
        <p:xfrm>
          <a:off xmlns:a="http://schemas.openxmlformats.org/drawingml/2006/main" x="533400" y="1790700"/>
          <a:ext xmlns:a="http://schemas.openxmlformats.org/drawingml/2006/main" cx="6334125" cy="3162300"/>
        </p:xfrm>
        <a:graphic xmlns:a="http://schemas.openxmlformats.org/drawingml/2006/main">
          <a:graphicData uri="http://schemas.openxmlformats.org/drawingml/2006/chart">
            <c:chart xmlns:r="http://schemas.openxmlformats.org/officeDocument/2006/relationships" xmlns:c="http://schemas.openxmlformats.org/drawingml/2006/chart" r:id="R42fe0597108240a5"/>
          </a:graphicData>
        </a:graphic>
      </p:graphicFrame>
      <p:graphicFrame>
        <p:nvGraphicFramePr>
          <p:cNvPr id="11" name=""/>
          <p:cNvGraphicFramePr/>
          <p:nvPr/>
        </p:nvGraphicFramePr>
        <p:xfrm>
          <a:off xmlns:a="http://schemas.openxmlformats.org/drawingml/2006/main" x="7315200" y="1790700"/>
          <a:ext xmlns:a="http://schemas.openxmlformats.org/drawingml/2006/main" cx="4248150" cy="3943350"/>
        </p:xfrm>
        <a:graphic xmlns:a="http://schemas.openxmlformats.org/drawingml/2006/main">
          <a:graphicData uri="http://schemas.openxmlformats.org/drawingml/2006/table">
            <a:tbl>
              <a:tblPr/>
              <a:tblGrid>
                <a:gridCol w="857250"/>
                <a:gridCol w="3390900"/>
              </a:tblGrid>
              <a:tr h="563336">
                <a:tc>
                  <a:txBody>
                    <a:bodyPr>
                      <a:noAutofit/>
                    </a:bodyPr>
                    <a:lstStyle/>
                    <a:p>
                      <a:r>
                        <a:rPr sz="1650" b="1">
                          <a:solidFill>
                            <a:srgbClr val="FFFFFF"/>
                          </a:solidFill>
                          <a:latin typeface="Arial"/>
                          <a:ea typeface="Arial"/>
                          <a:cs typeface="Arial"/>
                        </a:rPr>
                        <a:t>Raise</a:t>
                      </a:r>
                    </a:p>
                  </a:txBody>
                  <a:tcPr marL="114300" marR="114300" marT="28575" marB="28575" anchor="ctr">
                    <a:solidFill>
                      <a:srgbClr val="18344B"/>
                    </a:solidFill>
                  </a:tcPr>
                </a:tc>
                <a:tc>
                  <a:txBody>
                    <a:bodyPr>
                      <a:noAutofit/>
                    </a:bodyPr>
                    <a:lstStyle/>
                    <a:p>
                      <a:r>
                        <a:rPr sz="1650" b="1">
                          <a:solidFill>
                            <a:srgbClr val="FFFFFF"/>
                          </a:solidFill>
                          <a:latin typeface="Arial"/>
                          <a:ea typeface="Arial"/>
                          <a:cs typeface="Arial"/>
                        </a:rPr>
                        <a:t>Conditional sites</a:t>
                      </a:r>
                    </a:p>
                  </a:txBody>
                  <a:tcPr marL="114300" marR="114300" marT="28575" marB="28575" anchor="ctr">
                    <a:solidFill>
                      <a:srgbClr val="18344B"/>
                    </a:solidFill>
                  </a:tcPr>
                </a:tc>
              </a:tr>
              <a:tr h="563336">
                <a:tc>
                  <a:txBody>
                    <a:bodyPr>
                      <a:noAutofit/>
                    </a:bodyPr>
                    <a:lstStyle/>
                    <a:p>
                      <a:r>
                        <a:rPr sz="1650" b="0">
                          <a:solidFill>
                            <a:srgbClr val="18344B"/>
                          </a:solidFill>
                          <a:latin typeface="Arial"/>
                          <a:ea typeface="Arial"/>
                          <a:cs typeface="Arial"/>
                        </a:rPr>
                        <a:t>£1</a:t>
                      </a:r>
                    </a:p>
                  </a:txBody>
                  <a:tcPr marL="114300" marR="114300" marT="28575" marB="28575" anchor="ctr">
                    <a:solidFill>
                      <a:srgbClr val="FFFFFF"/>
                    </a:solidFill>
                  </a:tcPr>
                </a:tc>
                <a:tc>
                  <a:txBody>
                    <a:bodyPr>
                      <a:noAutofit/>
                    </a:bodyPr>
                    <a:lstStyle/>
                    <a:p>
                      <a:r>
                        <a:rPr sz="1650" b="0">
                          <a:solidFill>
                            <a:srgbClr val="18344B"/>
                          </a:solidFill>
                          <a:latin typeface="Arial"/>
                          <a:ea typeface="Arial"/>
                          <a:cs typeface="Arial"/>
                        </a:rPr>
                        <a:t>NF023 Portsmouth</a:t>
                      </a:r>
                    </a:p>
                    <a:p>
                      <a:r>
                        <a:rPr sz="1650" b="0">
                          <a:solidFill>
                            <a:srgbClr val="18344B"/>
                          </a:solidFill>
                          <a:latin typeface="Arial"/>
                          <a:ea typeface="Arial"/>
                          <a:cs typeface="Arial"/>
                        </a:rPr>
                        <a:t>NF030 Bath</a:t>
                      </a:r>
                    </a:p>
                  </a:txBody>
                  <a:tcPr marL="114300" marR="114300" marT="28575" marB="28575" anchor="ctr">
                    <a:solidFill>
                      <a:srgbClr val="FFFFFF"/>
                    </a:solidFill>
                  </a:tcPr>
                </a:tc>
              </a:tr>
              <a:tr h="563336">
                <a:tc>
                  <a:txBody>
                    <a:bodyPr>
                      <a:noAutofit/>
                    </a:bodyPr>
                    <a:lstStyle/>
                    <a:p>
                      <a:r>
                        <a:rPr sz="1650" b="0">
                          <a:solidFill>
                            <a:srgbClr val="18344B"/>
                          </a:solidFill>
                          <a:latin typeface="Arial"/>
                          <a:ea typeface="Arial"/>
                          <a:cs typeface="Arial"/>
                        </a:rPr>
                        <a:t>£1</a:t>
                      </a:r>
                    </a:p>
                  </a:txBody>
                  <a:tcPr marL="114300" marR="114300" marT="28575" marB="28575" anchor="ctr">
                    <a:solidFill>
                      <a:srgbClr val="F1F5F6"/>
                    </a:solidFill>
                  </a:tcPr>
                </a:tc>
                <a:tc>
                  <a:txBody>
                    <a:bodyPr>
                      <a:noAutofit/>
                    </a:bodyPr>
                    <a:lstStyle/>
                    <a:p>
                      <a:r>
                        <a:rPr sz="1650" b="0">
                          <a:solidFill>
                            <a:srgbClr val="18344B"/>
                          </a:solidFill>
                          <a:latin typeface="Arial"/>
                          <a:ea typeface="Arial"/>
                          <a:cs typeface="Arial"/>
                        </a:rPr>
                        <a:t>NF032 Plymouth</a:t>
                      </a:r>
                    </a:p>
                    <a:p>
                      <a:r>
                        <a:rPr sz="1650" b="0">
                          <a:solidFill>
                            <a:srgbClr val="18344B"/>
                          </a:solidFill>
                          <a:latin typeface="Arial"/>
                          <a:ea typeface="Arial"/>
                          <a:cs typeface="Arial"/>
                        </a:rPr>
                        <a:t>NF037 Chester</a:t>
                      </a:r>
                    </a:p>
                  </a:txBody>
                  <a:tcPr marL="114300" marR="114300" marT="28575" marB="28575" anchor="ctr">
                    <a:solidFill>
                      <a:srgbClr val="F1F5F6"/>
                    </a:solidFill>
                  </a:tcPr>
                </a:tc>
              </a:tr>
              <a:tr h="563336">
                <a:tc>
                  <a:txBody>
                    <a:bodyPr>
                      <a:noAutofit/>
                    </a:bodyPr>
                    <a:lstStyle/>
                    <a:p>
                      <a:r>
                        <a:rPr sz="1650" b="0">
                          <a:solidFill>
                            <a:srgbClr val="18344B"/>
                          </a:solidFill>
                          <a:latin typeface="Arial"/>
                          <a:ea typeface="Arial"/>
                          <a:cs typeface="Arial"/>
                        </a:rPr>
                        <a:t>£1</a:t>
                      </a:r>
                    </a:p>
                  </a:txBody>
                  <a:tcPr marL="114300" marR="114300" marT="28575" marB="28575" anchor="ctr">
                    <a:solidFill>
                      <a:srgbClr val="FFFFFF"/>
                    </a:solidFill>
                  </a:tcPr>
                </a:tc>
                <a:tc>
                  <a:txBody>
                    <a:bodyPr>
                      <a:noAutofit/>
                    </a:bodyPr>
                    <a:lstStyle/>
                    <a:p>
                      <a:r>
                        <a:rPr sz="1650" b="0">
                          <a:solidFill>
                            <a:srgbClr val="18344B"/>
                          </a:solidFill>
                          <a:latin typeface="Arial"/>
                          <a:ea typeface="Arial"/>
                          <a:cs typeface="Arial"/>
                        </a:rPr>
                        <a:t>NF040 Liverpool</a:t>
                      </a:r>
                    </a:p>
                    <a:p>
                      <a:r>
                        <a:rPr sz="1650" b="0">
                          <a:solidFill>
                            <a:srgbClr val="18344B"/>
                          </a:solidFill>
                          <a:latin typeface="Arial"/>
                          <a:ea typeface="Arial"/>
                          <a:cs typeface="Arial"/>
                        </a:rPr>
                        <a:t>NF050 Leeds</a:t>
                      </a:r>
                    </a:p>
                  </a:txBody>
                  <a:tcPr marL="114300" marR="114300" marT="28575" marB="28575" anchor="ctr">
                    <a:solidFill>
                      <a:srgbClr val="FFFFFF"/>
                    </a:solidFill>
                  </a:tcPr>
                </a:tc>
              </a:tr>
              <a:tr h="563336">
                <a:tc>
                  <a:txBody>
                    <a:bodyPr>
                      <a:noAutofit/>
                    </a:bodyPr>
                    <a:lstStyle/>
                    <a:p>
                      <a:r>
                        <a:rPr sz="1650" b="0">
                          <a:solidFill>
                            <a:srgbClr val="18344B"/>
                          </a:solidFill>
                          <a:latin typeface="Arial"/>
                          <a:ea typeface="Arial"/>
                          <a:cs typeface="Arial"/>
                        </a:rPr>
                        <a:t>£1</a:t>
                      </a:r>
                    </a:p>
                  </a:txBody>
                  <a:tcPr marL="114300" marR="114300" marT="28575" marB="28575" anchor="ctr">
                    <a:solidFill>
                      <a:srgbClr val="F1F5F6"/>
                    </a:solidFill>
                  </a:tcPr>
                </a:tc>
                <a:tc>
                  <a:txBody>
                    <a:bodyPr>
                      <a:noAutofit/>
                    </a:bodyPr>
                    <a:lstStyle/>
                    <a:p>
                      <a:r>
                        <a:rPr sz="1650" b="0">
                          <a:solidFill>
                            <a:srgbClr val="18344B"/>
                          </a:solidFill>
                          <a:latin typeface="Arial"/>
                          <a:ea typeface="Arial"/>
                          <a:cs typeface="Arial"/>
                        </a:rPr>
                        <a:t>NF066 Edinburgh</a:t>
                      </a:r>
                    </a:p>
                    <a:p>
                      <a:r>
                        <a:rPr sz="1650" b="0">
                          <a:solidFill>
                            <a:srgbClr val="18344B"/>
                          </a:solidFill>
                          <a:latin typeface="Arial"/>
                          <a:ea typeface="Arial"/>
                          <a:cs typeface="Arial"/>
                        </a:rPr>
                        <a:t>NF070 Edinburgh</a:t>
                      </a:r>
                    </a:p>
                  </a:txBody>
                  <a:tcPr marL="114300" marR="114300" marT="28575" marB="28575" anchor="ctr">
                    <a:solidFill>
                      <a:srgbClr val="F1F5F6"/>
                    </a:solidFill>
                  </a:tcPr>
                </a:tc>
              </a:tr>
              <a:tr h="563336">
                <a:tc>
                  <a:txBody>
                    <a:bodyPr>
                      <a:noAutofit/>
                    </a:bodyPr>
                    <a:lstStyle/>
                    <a:p>
                      <a:r>
                        <a:rPr sz="1650" b="0">
                          <a:solidFill>
                            <a:srgbClr val="18344B"/>
                          </a:solidFill>
                          <a:latin typeface="Arial"/>
                          <a:ea typeface="Arial"/>
                          <a:cs typeface="Arial"/>
                        </a:rPr>
                        <a:t>£1</a:t>
                      </a:r>
                    </a:p>
                  </a:txBody>
                  <a:tcPr marL="114300" marR="114300" marT="28575" marB="28575" anchor="ctr">
                    <a:solidFill>
                      <a:srgbClr val="FFFFFF"/>
                    </a:solidFill>
                  </a:tcPr>
                </a:tc>
                <a:tc>
                  <a:txBody>
                    <a:bodyPr>
                      <a:noAutofit/>
                    </a:bodyPr>
                    <a:lstStyle/>
                    <a:p>
                      <a:r>
                        <a:rPr sz="1650" b="0">
                          <a:solidFill>
                            <a:srgbClr val="18344B"/>
                          </a:solidFill>
                          <a:latin typeface="Arial"/>
                          <a:ea typeface="Arial"/>
                          <a:cs typeface="Arial"/>
                        </a:rPr>
                        <a:t>NF073 Cardiff</a:t>
                      </a:r>
                    </a:p>
                    <a:p>
                      <a:r>
                        <a:rPr sz="1650" b="0">
                          <a:solidFill>
                            <a:srgbClr val="18344B"/>
                          </a:solidFill>
                          <a:latin typeface="Arial"/>
                          <a:ea typeface="Arial"/>
                          <a:cs typeface="Arial"/>
                        </a:rPr>
                        <a:t>NF074 Swansea</a:t>
                      </a:r>
                    </a:p>
                  </a:txBody>
                  <a:tcPr marL="114300" marR="114300" marT="28575" marB="28575" anchor="ctr">
                    <a:solidFill>
                      <a:srgbClr val="FFFFFF"/>
                    </a:solidFill>
                  </a:tcPr>
                </a:tc>
              </a:tr>
              <a:tr h="563336">
                <a:tc>
                  <a:txBody>
                    <a:bodyPr>
                      <a:noAutofit/>
                    </a:bodyPr>
                    <a:lstStyle/>
                    <a:p>
                      <a:r>
                        <a:rPr sz="1650" b="0">
                          <a:solidFill>
                            <a:srgbClr val="18344B"/>
                          </a:solidFill>
                          <a:latin typeface="Arial"/>
                          <a:ea typeface="Arial"/>
                          <a:cs typeface="Arial"/>
                        </a:rPr>
                        <a:t>£2</a:t>
                      </a:r>
                    </a:p>
                  </a:txBody>
                  <a:tcPr marL="114300" marR="114300" marT="28575" marB="28575" anchor="ctr">
                    <a:solidFill>
                      <a:srgbClr val="F1F5F6"/>
                    </a:solidFill>
                  </a:tcPr>
                </a:tc>
                <a:tc>
                  <a:txBody>
                    <a:bodyPr>
                      <a:noAutofit/>
                    </a:bodyPr>
                    <a:lstStyle/>
                    <a:p>
                      <a:r>
                        <a:rPr sz="1650" b="0">
                          <a:solidFill>
                            <a:srgbClr val="18344B"/>
                          </a:solidFill>
                          <a:latin typeface="Arial"/>
                          <a:ea typeface="Arial"/>
                          <a:cs typeface="Arial"/>
                        </a:rPr>
                        <a:t>NF049 Hull</a:t>
                      </a:r>
                    </a:p>
                  </a:txBody>
                  <a:tcPr marL="114300" marR="114300" marT="28575" marB="28575" anchor="ctr">
                    <a:solidFill>
                      <a:srgbClr val="F1F5F6"/>
                    </a:solidFill>
                  </a:tcPr>
                </a:tc>
              </a:tr>
            </a:tbl>
          </a:graphicData>
        </a:graphic>
      </p:graphicFrame>
      <p:sp>
        <p:nvSpPr>
          <p:cNvPr id="6" name="">
            <a:extLst xmlns:a="http://schemas.openxmlformats.org/drawingml/2006/main">
              <a:ext uri="{FF2B5EF4-FFF2-40B4-BE49-F238E27FC236}">
                <a16:creationId xmlns:a16="http://schemas.microsoft.com/office/drawing/2014/main" id="{D981FD23-67F4-40A6-AF1F-004CBC498A70}"/>
              </a:ext>
            </a:extLst>
          </p:cNvPr>
          <p:cNvSpPr>
            <a:spLocks xmlns:a="http://schemas.openxmlformats.org/drawingml/2006/main" noGrp="1"/>
          </p:cNvSpPr>
          <p:nvPr/>
        </p:nvSpPr>
        <p:spPr>
          <a:xfrm xmlns:a="http://schemas.openxmlformats.org/drawingml/2006/main">
            <a:off x="609600" y="5248275"/>
            <a:ext cx="6191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8344B"/>
                </a:solidFill>
                <a:latin typeface="Arial"/>
                <a:ea typeface="Arial"/>
                <a:cs typeface="Arial"/>
              </a:defRPr>
            </a:pPr>
            <a:r>
              <a:rPr sz="1875" b="0">
                <a:solidFill>
                  <a:srgbClr val="18344B"/>
                </a:solidFill>
                <a:latin typeface="Arial"/>
                <a:ea typeface="Arial"/>
                <a:cs typeface="Arial"/>
              </a:rPr>
              <a:t>Qualification tests downside revenue, member loss, lower-bound revenue and behavioural sensitivities.</a:t>
            </a:r>
          </a:p>
        </p:txBody>
      </p:sp>
    </p:spTree>
    <p:extLst>
      <p:ext uri="{BB962C8B-B14F-4D97-AF65-F5344CB8AC3E}">
        <p14:creationId xmlns:p14="http://schemas.microsoft.com/office/powerpoint/2010/main" val="13412409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9850D5-433D-4C01-8741-27A315065A21}"/>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8344B"/>
                </a:solidFill>
                <a:latin typeface="Arial"/>
                <a:ea typeface="Arial"/>
                <a:cs typeface="Arial"/>
              </a:defRPr>
            </a:pPr>
            <a:r>
              <a:rPr sz="3225" b="1">
                <a:solidFill>
                  <a:srgbClr val="18344B"/>
                </a:solidFill>
                <a:latin typeface="Arial"/>
                <a:ea typeface="Arial"/>
                <a:cs typeface="Arial"/>
              </a:rPr>
              <a:t>The £149k portfolio depends on management policy</a:t>
            </a:r>
          </a:p>
        </p:txBody>
      </p:sp>
      <p:sp>
        <p:nvSpPr>
          <p:cNvPr id="2" name="">
            <a:extLst xmlns:a="http://schemas.openxmlformats.org/drawingml/2006/main">
              <a:ext uri="{FF2B5EF4-FFF2-40B4-BE49-F238E27FC236}">
                <a16:creationId xmlns:a16="http://schemas.microsoft.com/office/drawing/2014/main" id="{487668C2-18C2-40D6-AFA2-BFBCAF889014}"/>
              </a:ext>
            </a:extLst>
          </p:cNvPr>
          <p:cNvSpPr>
            <a:spLocks xmlns:a="http://schemas.openxmlformats.org/drawingml/2006/main" noGrp="1"/>
          </p:cNvSpPr>
          <p:nvPr/>
        </p:nvSpPr>
        <p:spPr>
          <a:xfrm xmlns:a="http://schemas.openxmlformats.org/drawingml/2006/main">
            <a:off x="609600" y="6238875"/>
            <a:ext cx="10629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Jan–Dec 2026 conditional RAISE portfolios. TEST FIRST excluded. Ranges exclude future shocks and transport uncertainty.</a:t>
            </a:r>
          </a:p>
        </p:txBody>
      </p:sp>
      <p:sp>
        <p:nvSpPr>
          <p:cNvPr id="3" name="">
            <a:extLst xmlns:a="http://schemas.openxmlformats.org/drawingml/2006/main">
              <a:ext uri="{FF2B5EF4-FFF2-40B4-BE49-F238E27FC236}">
                <a16:creationId xmlns:a16="http://schemas.microsoft.com/office/drawing/2014/main" id="{F8B3B82E-B623-45BD-A3BD-D125F616D67E}"/>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08</a:t>
            </a:r>
          </a:p>
        </p:txBody>
      </p:sp>
      <p:graphicFrame>
        <p:nvGraphicFramePr>
          <p:cNvPr id="10" name=""/>
          <p:cNvGraphicFramePr/>
          <p:nvPr/>
        </p:nvGraphicFramePr>
        <p:xfrm>
          <a:off xmlns:a="http://schemas.openxmlformats.org/drawingml/2006/main" x="609600" y="1781175"/>
          <a:ext xmlns:a="http://schemas.openxmlformats.org/drawingml/2006/main" cx="10972800" cy="3200400"/>
        </p:xfrm>
        <a:graphic xmlns:a="http://schemas.openxmlformats.org/drawingml/2006/main">
          <a:graphicData uri="http://schemas.openxmlformats.org/drawingml/2006/table">
            <a:tbl>
              <a:tblPr/>
              <a:tblGrid>
                <a:gridCol w="5048250"/>
                <a:gridCol w="1428750"/>
                <a:gridCol w="2333625"/>
                <a:gridCol w="2162175"/>
              </a:tblGrid>
              <a:tr h="533400">
                <a:tc>
                  <a:txBody>
                    <a:bodyPr>
                      <a:noAutofit/>
                    </a:bodyPr>
                    <a:lstStyle/>
                    <a:p>
                      <a:r>
                        <a:rPr sz="1800" b="1">
                          <a:solidFill>
                            <a:srgbClr val="FFFFFF"/>
                          </a:solidFill>
                          <a:latin typeface="Arial"/>
                          <a:ea typeface="Arial"/>
                          <a:cs typeface="Arial"/>
                        </a:rPr>
                        <a:t>Policy assumption</a:t>
                      </a:r>
                    </a:p>
                  </a:txBody>
                  <a:tcPr marL="114300" marR="114300" marT="66675" marB="66675" anchor="ctr">
                    <a:solidFill>
                      <a:srgbClr val="18344B"/>
                    </a:solidFill>
                  </a:tcPr>
                </a:tc>
                <a:tc>
                  <a:txBody>
                    <a:bodyPr>
                      <a:noAutofit/>
                    </a:bodyPr>
                    <a:lstStyle/>
                    <a:p>
                      <a:r>
                        <a:rPr sz="1800" b="1">
                          <a:solidFill>
                            <a:srgbClr val="FFFFFF"/>
                          </a:solidFill>
                          <a:latin typeface="Arial"/>
                          <a:ea typeface="Arial"/>
                          <a:cs typeface="Arial"/>
                        </a:rPr>
                        <a:t>Raise sites</a:t>
                      </a:r>
                    </a:p>
                  </a:txBody>
                  <a:tcPr marL="114300" marR="114300" marT="66675" marB="66675" anchor="ctr">
                    <a:solidFill>
                      <a:srgbClr val="18344B"/>
                    </a:solidFill>
                  </a:tcPr>
                </a:tc>
                <a:tc>
                  <a:txBody>
                    <a:bodyPr>
                      <a:noAutofit/>
                    </a:bodyPr>
                    <a:lstStyle/>
                    <a:p>
                      <a:r>
                        <a:rPr sz="1800" b="1">
                          <a:solidFill>
                            <a:srgbClr val="FFFFFF"/>
                          </a:solidFill>
                          <a:latin typeface="Arial"/>
                          <a:ea typeface="Arial"/>
                          <a:cs typeface="Arial"/>
                        </a:rPr>
                        <a:t>Annual net uplift</a:t>
                      </a:r>
                    </a:p>
                  </a:txBody>
                  <a:tcPr marL="114300" marR="114300" marT="66675" marB="66675" anchor="ctr">
                    <a:solidFill>
                      <a:srgbClr val="18344B"/>
                    </a:solidFill>
                  </a:tcPr>
                </a:tc>
                <a:tc>
                  <a:txBody>
                    <a:bodyPr>
                      <a:noAutofit/>
                    </a:bodyPr>
                    <a:lstStyle/>
                    <a:p>
                      <a:r>
                        <a:rPr sz="1800" b="1">
                          <a:solidFill>
                            <a:srgbClr val="FFFFFF"/>
                          </a:solidFill>
                          <a:latin typeface="Arial"/>
                          <a:ea typeface="Arial"/>
                          <a:cs typeface="Arial"/>
                        </a:rPr>
                        <a:t>December</a:t>
                      </a:r>
                    </a:p>
                    <a:p>
                      <a:r>
                        <a:rPr sz="1800" b="1">
                          <a:solidFill>
                            <a:srgbClr val="FFFFFF"/>
                          </a:solidFill>
                          <a:latin typeface="Arial"/>
                          <a:ea typeface="Arial"/>
                          <a:cs typeface="Arial"/>
                        </a:rPr>
                        <a:t>member impact</a:t>
                      </a:r>
                    </a:p>
                  </a:txBody>
                  <a:tcPr marL="114300" marR="114300" marT="66675" marB="66675" anchor="ctr">
                    <a:solidFill>
                      <a:srgbClr val="18344B"/>
                    </a:solidFill>
                  </a:tcPr>
                </a:tc>
              </a:tr>
              <a:tr h="533400">
                <a:tc>
                  <a:txBody>
                    <a:bodyPr>
                      <a:noAutofit/>
                    </a:bodyPr>
                    <a:lstStyle/>
                    <a:p>
                      <a:r>
                        <a:rPr sz="1800" b="0">
                          <a:solidFill>
                            <a:srgbClr val="18344B"/>
                          </a:solidFill>
                          <a:latin typeface="Arial"/>
                          <a:ea typeface="Arial"/>
                          <a:cs typeface="Arial"/>
                        </a:rPr>
                        <a:t>Agreed policy: 5% member gate</a:t>
                      </a:r>
                    </a:p>
                  </a:txBody>
                  <a:tcPr marL="114300" marR="114300" marT="66675" marB="66675" anchor="ctr">
                    <a:solidFill>
                      <a:srgbClr val="FFFFFF"/>
                    </a:solidFill>
                  </a:tcPr>
                </a:tc>
                <a:tc>
                  <a:txBody>
                    <a:bodyPr>
                      <a:noAutofit/>
                    </a:bodyPr>
                    <a:lstStyle/>
                    <a:p>
                      <a:r>
                        <a:rPr sz="1800" b="0">
                          <a:solidFill>
                            <a:srgbClr val="18344B"/>
                          </a:solidFill>
                          <a:latin typeface="Arial"/>
                          <a:ea typeface="Arial"/>
                          <a:cs typeface="Arial"/>
                        </a:rPr>
                        <a:t>11</a:t>
                      </a:r>
                    </a:p>
                  </a:txBody>
                  <a:tcPr marL="114300" marR="114300" marT="66675" marB="66675" anchor="ctr">
                    <a:solidFill>
                      <a:srgbClr val="FFFFFF"/>
                    </a:solidFill>
                  </a:tcPr>
                </a:tc>
                <a:tc>
                  <a:txBody>
                    <a:bodyPr>
                      <a:noAutofit/>
                    </a:bodyPr>
                    <a:lstStyle/>
                    <a:p>
                      <a:r>
                        <a:rPr sz="1800" b="0">
                          <a:solidFill>
                            <a:srgbClr val="18344B"/>
                          </a:solidFill>
                          <a:latin typeface="Arial"/>
                          <a:ea typeface="Arial"/>
                          <a:cs typeface="Arial"/>
                        </a:rPr>
                        <a:t>£149k</a:t>
                      </a:r>
                    </a:p>
                  </a:txBody>
                  <a:tcPr marL="114300" marR="114300" marT="66675" marB="66675" anchor="ctr">
                    <a:solidFill>
                      <a:srgbClr val="FFFFFF"/>
                    </a:solidFill>
                  </a:tcPr>
                </a:tc>
                <a:tc>
                  <a:txBody>
                    <a:bodyPr>
                      <a:noAutofit/>
                    </a:bodyPr>
                    <a:lstStyle/>
                    <a:p>
                      <a:r>
                        <a:rPr sz="1800" b="0">
                          <a:solidFill>
                            <a:srgbClr val="18344B"/>
                          </a:solidFill>
                          <a:latin typeface="Arial"/>
                          <a:ea typeface="Arial"/>
                          <a:cs typeface="Arial"/>
                        </a:rPr>
                        <a:t>-0.31%</a:t>
                      </a:r>
                    </a:p>
                  </a:txBody>
                  <a:tcPr marL="114300" marR="114300" marT="66675" marB="66675" anchor="ctr">
                    <a:solidFill>
                      <a:srgbClr val="FFFFFF"/>
                    </a:solidFill>
                  </a:tcPr>
                </a:tc>
              </a:tr>
              <a:tr h="533400">
                <a:tc>
                  <a:txBody>
                    <a:bodyPr>
                      <a:noAutofit/>
                    </a:bodyPr>
                    <a:lstStyle/>
                    <a:p>
                      <a:r>
                        <a:rPr sz="1800" b="0">
                          <a:solidFill>
                            <a:srgbClr val="18344B"/>
                          </a:solidFill>
                          <a:latin typeface="Arial"/>
                          <a:ea typeface="Arial"/>
                          <a:cs typeface="Arial"/>
                        </a:rPr>
                        <a:t>3% downside member gate</a:t>
                      </a:r>
                    </a:p>
                  </a:txBody>
                  <a:tcPr marL="114300" marR="114300" marT="66675" marB="66675" anchor="ctr">
                    <a:solidFill>
                      <a:srgbClr val="F1F5F6"/>
                    </a:solidFill>
                  </a:tcPr>
                </a:tc>
                <a:tc>
                  <a:txBody>
                    <a:bodyPr>
                      <a:noAutofit/>
                    </a:bodyPr>
                    <a:lstStyle/>
                    <a:p>
                      <a:r>
                        <a:rPr sz="1800" b="0">
                          <a:solidFill>
                            <a:srgbClr val="18344B"/>
                          </a:solidFill>
                          <a:latin typeface="Arial"/>
                          <a:ea typeface="Arial"/>
                          <a:cs typeface="Arial"/>
                        </a:rPr>
                        <a:t>6</a:t>
                      </a:r>
                    </a:p>
                  </a:txBody>
                  <a:tcPr marL="114300" marR="114300" marT="66675" marB="66675" anchor="ctr">
                    <a:solidFill>
                      <a:srgbClr val="F1F5F6"/>
                    </a:solidFill>
                  </a:tcPr>
                </a:tc>
                <a:tc>
                  <a:txBody>
                    <a:bodyPr>
                      <a:noAutofit/>
                    </a:bodyPr>
                    <a:lstStyle/>
                    <a:p>
                      <a:r>
                        <a:rPr sz="1800" b="0">
                          <a:solidFill>
                            <a:srgbClr val="18344B"/>
                          </a:solidFill>
                          <a:latin typeface="Arial"/>
                          <a:ea typeface="Arial"/>
                          <a:cs typeface="Arial"/>
                        </a:rPr>
                        <a:t>£77k</a:t>
                      </a:r>
                    </a:p>
                  </a:txBody>
                  <a:tcPr marL="114300" marR="114300" marT="66675" marB="66675" anchor="ctr">
                    <a:solidFill>
                      <a:srgbClr val="F1F5F6"/>
                    </a:solidFill>
                  </a:tcPr>
                </a:tc>
                <a:tc>
                  <a:txBody>
                    <a:bodyPr>
                      <a:noAutofit/>
                    </a:bodyPr>
                    <a:lstStyle/>
                    <a:p>
                      <a:r>
                        <a:rPr sz="1800" b="0">
                          <a:solidFill>
                            <a:srgbClr val="18344B"/>
                          </a:solidFill>
                          <a:latin typeface="Arial"/>
                          <a:ea typeface="Arial"/>
                          <a:cs typeface="Arial"/>
                        </a:rPr>
                        <a:t>-0.14%</a:t>
                      </a:r>
                    </a:p>
                  </a:txBody>
                  <a:tcPr marL="114300" marR="114300" marT="66675" marB="66675" anchor="ctr">
                    <a:solidFill>
                      <a:srgbClr val="F1F5F6"/>
                    </a:solidFill>
                  </a:tcPr>
                </a:tc>
              </a:tr>
              <a:tr h="533400">
                <a:tc>
                  <a:txBody>
                    <a:bodyPr>
                      <a:noAutofit/>
                    </a:bodyPr>
                    <a:lstStyle/>
                    <a:p>
                      <a:r>
                        <a:rPr sz="1800" b="0">
                          <a:solidFill>
                            <a:srgbClr val="18344B"/>
                          </a:solidFill>
                          <a:latin typeface="Arial"/>
                          <a:ea typeface="Arial"/>
                          <a:cs typeface="Arial"/>
                        </a:rPr>
                        <a:t>7% downside member gate</a:t>
                      </a:r>
                    </a:p>
                  </a:txBody>
                  <a:tcPr marL="114300" marR="114300" marT="66675" marB="66675" anchor="ctr">
                    <a:solidFill>
                      <a:srgbClr val="FFFFFF"/>
                    </a:solidFill>
                  </a:tcPr>
                </a:tc>
                <a:tc>
                  <a:txBody>
                    <a:bodyPr>
                      <a:noAutofit/>
                    </a:bodyPr>
                    <a:lstStyle/>
                    <a:p>
                      <a:r>
                        <a:rPr sz="1800" b="0">
                          <a:solidFill>
                            <a:srgbClr val="18344B"/>
                          </a:solidFill>
                          <a:latin typeface="Arial"/>
                          <a:ea typeface="Arial"/>
                          <a:cs typeface="Arial"/>
                        </a:rPr>
                        <a:t>11</a:t>
                      </a:r>
                    </a:p>
                  </a:txBody>
                  <a:tcPr marL="114300" marR="114300" marT="66675" marB="66675" anchor="ctr">
                    <a:solidFill>
                      <a:srgbClr val="FFFFFF"/>
                    </a:solidFill>
                  </a:tcPr>
                </a:tc>
                <a:tc>
                  <a:txBody>
                    <a:bodyPr>
                      <a:noAutofit/>
                    </a:bodyPr>
                    <a:lstStyle/>
                    <a:p>
                      <a:r>
                        <a:rPr sz="1800" b="0">
                          <a:solidFill>
                            <a:srgbClr val="18344B"/>
                          </a:solidFill>
                          <a:latin typeface="Arial"/>
                          <a:ea typeface="Arial"/>
                          <a:cs typeface="Arial"/>
                        </a:rPr>
                        <a:t>£172k</a:t>
                      </a:r>
                    </a:p>
                  </a:txBody>
                  <a:tcPr marL="114300" marR="114300" marT="66675" marB="66675" anchor="ctr">
                    <a:solidFill>
                      <a:srgbClr val="FFFFFF"/>
                    </a:solidFill>
                  </a:tcPr>
                </a:tc>
                <a:tc>
                  <a:txBody>
                    <a:bodyPr>
                      <a:noAutofit/>
                    </a:bodyPr>
                    <a:lstStyle/>
                    <a:p>
                      <a:r>
                        <a:rPr sz="1800" b="0">
                          <a:solidFill>
                            <a:srgbClr val="18344B"/>
                          </a:solidFill>
                          <a:latin typeface="Arial"/>
                          <a:ea typeface="Arial"/>
                          <a:cs typeface="Arial"/>
                        </a:rPr>
                        <a:t>-0.36%</a:t>
                      </a:r>
                    </a:p>
                  </a:txBody>
                  <a:tcPr marL="114300" marR="114300" marT="66675" marB="66675" anchor="ctr">
                    <a:solidFill>
                      <a:srgbClr val="FFFFFF"/>
                    </a:solidFill>
                  </a:tcPr>
                </a:tc>
              </a:tr>
              <a:tr h="533400">
                <a:tc>
                  <a:txBody>
                    <a:bodyPr>
                      <a:noAutofit/>
                    </a:bodyPr>
                    <a:lstStyle/>
                    <a:p>
                      <a:r>
                        <a:rPr sz="1800" b="0">
                          <a:solidFill>
                            <a:srgbClr val="18344B"/>
                          </a:solidFill>
                          <a:latin typeface="Arial"/>
                          <a:ea typeface="Arial"/>
                          <a:cs typeface="Arial"/>
                        </a:rPr>
                        <a:t>£1 post-increase competitor buffer</a:t>
                      </a:r>
                    </a:p>
                  </a:txBody>
                  <a:tcPr marL="114300" marR="114300" marT="66675" marB="66675" anchor="ctr">
                    <a:solidFill>
                      <a:srgbClr val="F1F5F6"/>
                    </a:solidFill>
                  </a:tcPr>
                </a:tc>
                <a:tc>
                  <a:txBody>
                    <a:bodyPr>
                      <a:noAutofit/>
                    </a:bodyPr>
                    <a:lstStyle/>
                    <a:p>
                      <a:r>
                        <a:rPr sz="1800" b="0">
                          <a:solidFill>
                            <a:srgbClr val="18344B"/>
                          </a:solidFill>
                          <a:latin typeface="Arial"/>
                          <a:ea typeface="Arial"/>
                          <a:cs typeface="Arial"/>
                        </a:rPr>
                        <a:t>4</a:t>
                      </a:r>
                    </a:p>
                  </a:txBody>
                  <a:tcPr marL="114300" marR="114300" marT="66675" marB="66675" anchor="ctr">
                    <a:solidFill>
                      <a:srgbClr val="F1F5F6"/>
                    </a:solidFill>
                  </a:tcPr>
                </a:tc>
                <a:tc>
                  <a:txBody>
                    <a:bodyPr>
                      <a:noAutofit/>
                    </a:bodyPr>
                    <a:lstStyle/>
                    <a:p>
                      <a:r>
                        <a:rPr sz="1800" b="0">
                          <a:solidFill>
                            <a:srgbClr val="18344B"/>
                          </a:solidFill>
                          <a:latin typeface="Arial"/>
                          <a:ea typeface="Arial"/>
                          <a:cs typeface="Arial"/>
                        </a:rPr>
                        <a:t>£47k</a:t>
                      </a:r>
                    </a:p>
                  </a:txBody>
                  <a:tcPr marL="114300" marR="114300" marT="66675" marB="66675" anchor="ctr">
                    <a:solidFill>
                      <a:srgbClr val="F1F5F6"/>
                    </a:solidFill>
                  </a:tcPr>
                </a:tc>
                <a:tc>
                  <a:txBody>
                    <a:bodyPr>
                      <a:noAutofit/>
                    </a:bodyPr>
                    <a:lstStyle/>
                    <a:p>
                      <a:r>
                        <a:rPr sz="1800" b="0">
                          <a:solidFill>
                            <a:srgbClr val="18344B"/>
                          </a:solidFill>
                          <a:latin typeface="Arial"/>
                          <a:ea typeface="Arial"/>
                          <a:cs typeface="Arial"/>
                        </a:rPr>
                        <a:t>-0.10%</a:t>
                      </a:r>
                    </a:p>
                  </a:txBody>
                  <a:tcPr marL="114300" marR="114300" marT="66675" marB="66675" anchor="ctr">
                    <a:solidFill>
                      <a:srgbClr val="F1F5F6"/>
                    </a:solidFill>
                  </a:tcPr>
                </a:tc>
              </a:tr>
              <a:tr h="533400">
                <a:tc>
                  <a:txBody>
                    <a:bodyPr>
                      <a:noAutofit/>
                    </a:bodyPr>
                    <a:lstStyle/>
                    <a:p>
                      <a:r>
                        <a:rPr sz="1800" b="0">
                          <a:solidFill>
                            <a:srgbClr val="18344B"/>
                          </a:solidFill>
                          <a:latin typeface="Arial"/>
                          <a:ea typeface="Arial"/>
                          <a:cs typeface="Arial"/>
                        </a:rPr>
                        <a:t>Repeat repricing permitted with warning</a:t>
                      </a:r>
                    </a:p>
                  </a:txBody>
                  <a:tcPr marL="114300" marR="114300" marT="66675" marB="66675" anchor="ctr">
                    <a:solidFill>
                      <a:srgbClr val="FFFFFF"/>
                    </a:solidFill>
                  </a:tcPr>
                </a:tc>
                <a:tc>
                  <a:txBody>
                    <a:bodyPr>
                      <a:noAutofit/>
                    </a:bodyPr>
                    <a:lstStyle/>
                    <a:p>
                      <a:r>
                        <a:rPr sz="1800" b="0">
                          <a:solidFill>
                            <a:srgbClr val="18344B"/>
                          </a:solidFill>
                          <a:latin typeface="Arial"/>
                          <a:ea typeface="Arial"/>
                          <a:cs typeface="Arial"/>
                        </a:rPr>
                        <a:t>16</a:t>
                      </a:r>
                    </a:p>
                  </a:txBody>
                  <a:tcPr marL="114300" marR="114300" marT="66675" marB="66675" anchor="ctr">
                    <a:solidFill>
                      <a:srgbClr val="FFFFFF"/>
                    </a:solidFill>
                  </a:tcPr>
                </a:tc>
                <a:tc>
                  <a:txBody>
                    <a:bodyPr>
                      <a:noAutofit/>
                    </a:bodyPr>
                    <a:lstStyle/>
                    <a:p>
                      <a:r>
                        <a:rPr sz="1800" b="0">
                          <a:solidFill>
                            <a:srgbClr val="18344B"/>
                          </a:solidFill>
                          <a:latin typeface="Arial"/>
                          <a:ea typeface="Arial"/>
                          <a:cs typeface="Arial"/>
                        </a:rPr>
                        <a:t>£256k</a:t>
                      </a:r>
                    </a:p>
                  </a:txBody>
                  <a:tcPr marL="114300" marR="114300" marT="66675" marB="66675" anchor="ctr">
                    <a:solidFill>
                      <a:srgbClr val="FFFFFF"/>
                    </a:solidFill>
                  </a:tcPr>
                </a:tc>
                <a:tc>
                  <a:txBody>
                    <a:bodyPr>
                      <a:noAutofit/>
                    </a:bodyPr>
                    <a:lstStyle/>
                    <a:p>
                      <a:r>
                        <a:rPr sz="1800" b="0">
                          <a:solidFill>
                            <a:srgbClr val="18344B"/>
                          </a:solidFill>
                          <a:latin typeface="Arial"/>
                          <a:ea typeface="Arial"/>
                          <a:cs typeface="Arial"/>
                        </a:rPr>
                        <a:t>-0.49%</a:t>
                      </a:r>
                    </a:p>
                  </a:txBody>
                  <a:tcPr marL="114300" marR="114300" marT="66675" marB="666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B50ACB7-AD28-4D9D-9C0E-639A0F470A48}"/>
              </a:ext>
            </a:extLst>
          </p:cNvPr>
          <p:cNvSpPr>
            <a:spLocks xmlns:a="http://schemas.openxmlformats.org/drawingml/2006/main" noGrp="1"/>
          </p:cNvSpPr>
          <p:nvPr/>
        </p:nvSpPr>
        <p:spPr>
          <a:xfrm xmlns:a="http://schemas.openxmlformats.org/drawingml/2006/main">
            <a:off x="609600" y="53054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8344B"/>
                </a:solidFill>
                <a:latin typeface="Arial"/>
                <a:ea typeface="Arial"/>
                <a:cs typeface="Arial"/>
              </a:defRPr>
            </a:pPr>
            <a:r>
              <a:rPr sz="2175" b="1">
                <a:solidFill>
                  <a:srgbClr val="18344B"/>
                </a:solidFill>
                <a:latin typeface="Arial"/>
                <a:ea typeface="Arial"/>
                <a:cs typeface="Arial"/>
              </a:rPr>
              <a:t>Base portfolio: 1,209 fewer December members (-0.31%)</a:t>
            </a:r>
          </a:p>
        </p:txBody>
      </p:sp>
      <p:sp>
        <p:nvSpPr>
          <p:cNvPr id="6" name="">
            <a:extLst xmlns:a="http://schemas.openxmlformats.org/drawingml/2006/main">
              <a:ext uri="{FF2B5EF4-FFF2-40B4-BE49-F238E27FC236}">
                <a16:creationId xmlns:a16="http://schemas.microsoft.com/office/drawing/2014/main" id="{F7EC9437-306A-45EB-9003-B846EC10F6F2}"/>
              </a:ext>
            </a:extLst>
          </p:cNvPr>
          <p:cNvSpPr>
            <a:spLocks xmlns:a="http://schemas.openxmlformats.org/drawingml/2006/main" noGrp="1"/>
          </p:cNvSpPr>
          <p:nvPr/>
        </p:nvSpPr>
        <p:spPr>
          <a:xfrm xmlns:a="http://schemas.openxmlformats.org/drawingml/2006/main">
            <a:off x="609600" y="58007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674"/>
                </a:solidFill>
                <a:latin typeface="Arial"/>
                <a:ea typeface="Arial"/>
                <a:cs typeface="Arial"/>
              </a:defRPr>
            </a:pPr>
            <a:r>
              <a:rPr sz="1725" b="0">
                <a:solidFill>
                  <a:srgbClr val="536674"/>
                </a:solidFill>
                <a:latin typeface="Arial"/>
                <a:ea typeface="Arial"/>
                <a:cs typeface="Arial"/>
              </a:rPr>
              <a:t>95% parameter range £64k to £231k. Downside £94k. Upside £203k.</a:t>
            </a:r>
          </a:p>
        </p:txBody>
      </p:sp>
    </p:spTree>
    <p:extLst>
      <p:ext uri="{BB962C8B-B14F-4D97-AF65-F5344CB8AC3E}">
        <p14:creationId xmlns:p14="http://schemas.microsoft.com/office/powerpoint/2010/main" val="5075978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3FAC47D-CE61-4E23-ABF3-6DEBB38D483D}"/>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8344B"/>
                </a:solidFill>
                <a:latin typeface="Arial"/>
                <a:ea typeface="Arial"/>
                <a:cs typeface="Arial"/>
              </a:defRPr>
            </a:pPr>
            <a:r>
              <a:rPr sz="3225" b="1">
                <a:solidFill>
                  <a:srgbClr val="18344B"/>
                </a:solidFill>
                <a:latin typeface="Arial"/>
                <a:ea typeface="Arial"/>
                <a:cs typeface="Arial"/>
              </a:rPr>
              <a:t>The simulated £1 pilot is inconclusive at six months</a:t>
            </a:r>
          </a:p>
        </p:txBody>
      </p:sp>
      <p:sp>
        <p:nvSpPr>
          <p:cNvPr id="2" name="">
            <a:extLst xmlns:a="http://schemas.openxmlformats.org/drawingml/2006/main">
              <a:ext uri="{FF2B5EF4-FFF2-40B4-BE49-F238E27FC236}">
                <a16:creationId xmlns:a16="http://schemas.microsoft.com/office/drawing/2014/main" id="{561AE110-6F0F-4176-A9A5-AE19C468D5EB}"/>
              </a:ext>
            </a:extLst>
          </p:cNvPr>
          <p:cNvSpPr>
            <a:spLocks xmlns:a="http://schemas.openxmlformats.org/drawingml/2006/main" noGrp="1"/>
          </p:cNvSpPr>
          <p:nvPr/>
        </p:nvSpPr>
        <p:spPr>
          <a:xfrm xmlns:a="http://schemas.openxmlformats.org/drawingml/2006/main">
            <a:off x="609600" y="6238875"/>
            <a:ext cx="10629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Illustrative simulation. Primary comparison: Jul–Dec 2025 versus Jan–Jun 2026. These results do not add independent evidence.</a:t>
            </a:r>
          </a:p>
        </p:txBody>
      </p:sp>
      <p:sp>
        <p:nvSpPr>
          <p:cNvPr id="3" name="">
            <a:extLst xmlns:a="http://schemas.openxmlformats.org/drawingml/2006/main">
              <a:ext uri="{FF2B5EF4-FFF2-40B4-BE49-F238E27FC236}">
                <a16:creationId xmlns:a16="http://schemas.microsoft.com/office/drawing/2014/main" id="{0AACF2CB-E28B-43DE-9CF6-C3C8175FA1B0}"/>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E7F52A61-14EB-45E6-BB30-5E1198871D2C}"/>
              </a:ext>
            </a:extLst>
          </p:cNvPr>
          <p:cNvSpPr>
            <a:spLocks xmlns:a="http://schemas.openxmlformats.org/drawingml/2006/main" noGrp="1"/>
          </p:cNvSpPr>
          <p:nvPr/>
        </p:nvSpPr>
        <p:spPr>
          <a:xfrm xmlns:a="http://schemas.openxmlformats.org/drawingml/2006/main">
            <a:off x="609600" y="16383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8344B"/>
                </a:solidFill>
                <a:latin typeface="Arial"/>
                <a:ea typeface="Arial"/>
                <a:cs typeface="Arial"/>
              </a:defRPr>
            </a:pPr>
            <a:r>
              <a:rPr sz="1875" b="0">
                <a:solidFill>
                  <a:srgbClr val="18344B"/>
                </a:solidFill>
                <a:latin typeface="Arial"/>
                <a:ea typeface="Arial"/>
                <a:cs typeface="Arial"/>
              </a:rPr>
              <a:t>5 primary pairs. 2 exploratory repeat pairs. 2 unmatched reserves.</a:t>
            </a:r>
          </a:p>
        </p:txBody>
      </p:sp>
      <p:sp>
        <p:nvSpPr>
          <p:cNvPr id="5" name="">
            <a:extLst xmlns:a="http://schemas.openxmlformats.org/drawingml/2006/main">
              <a:ext uri="{FF2B5EF4-FFF2-40B4-BE49-F238E27FC236}">
                <a16:creationId xmlns:a16="http://schemas.microsoft.com/office/drawing/2014/main" id="{CFECEEE6-54C0-4752-9AC6-5325A665FB5F}"/>
              </a:ext>
            </a:extLst>
          </p:cNvPr>
          <p:cNvSpPr>
            <a:spLocks xmlns:a="http://schemas.openxmlformats.org/drawingml/2006/main" noGrp="1"/>
          </p:cNvSpPr>
          <p:nvPr/>
        </p:nvSpPr>
        <p:spPr>
          <a:xfrm xmlns:a="http://schemas.openxmlformats.org/drawingml/2006/main">
            <a:off x="609600" y="2352675"/>
            <a:ext cx="4095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9B6700"/>
                </a:solidFill>
                <a:latin typeface="Arial"/>
                <a:ea typeface="Arial"/>
                <a:cs typeface="Arial"/>
              </a:defRPr>
            </a:pPr>
            <a:r>
              <a:rPr sz="2700" b="1">
                <a:solidFill>
                  <a:srgbClr val="9B6700"/>
                </a:solidFill>
                <a:latin typeface="Arial"/>
                <a:ea typeface="Arial"/>
                <a:cs typeface="Arial"/>
              </a:rPr>
              <a:t>EXTEND TEST</a:t>
            </a:r>
          </a:p>
        </p:txBody>
      </p:sp>
      <p:sp>
        <p:nvSpPr>
          <p:cNvPr id="6" name="">
            <a:extLst xmlns:a="http://schemas.openxmlformats.org/drawingml/2006/main">
              <a:ext uri="{FF2B5EF4-FFF2-40B4-BE49-F238E27FC236}">
                <a16:creationId xmlns:a16="http://schemas.microsoft.com/office/drawing/2014/main" id="{D2E4894C-E078-4F8D-ADAD-F6FF18756973}"/>
              </a:ext>
            </a:extLst>
          </p:cNvPr>
          <p:cNvSpPr>
            <a:spLocks xmlns:a="http://schemas.openxmlformats.org/drawingml/2006/main" noGrp="1"/>
          </p:cNvSpPr>
          <p:nvPr/>
        </p:nvSpPr>
        <p:spPr>
          <a:xfrm xmlns:a="http://schemas.openxmlformats.org/drawingml/2006/main">
            <a:off x="609600" y="2990850"/>
            <a:ext cx="4191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8344B"/>
                </a:solidFill>
                <a:latin typeface="Arial"/>
                <a:ea typeface="Arial"/>
                <a:cs typeface="Arial"/>
              </a:defRPr>
            </a:pPr>
            <a:r>
              <a:rPr sz="2850" b="1">
                <a:solidFill>
                  <a:srgbClr val="18344B"/>
                </a:solidFill>
                <a:latin typeface="Arial"/>
                <a:ea typeface="Arial"/>
                <a:cs typeface="Arial"/>
              </a:rPr>
              <a:t>+1.02% revenue</a:t>
            </a:r>
          </a:p>
        </p:txBody>
      </p:sp>
      <p:sp>
        <p:nvSpPr>
          <p:cNvPr id="7" name="">
            <a:extLst xmlns:a="http://schemas.openxmlformats.org/drawingml/2006/main">
              <a:ext uri="{FF2B5EF4-FFF2-40B4-BE49-F238E27FC236}">
                <a16:creationId xmlns:a16="http://schemas.microsoft.com/office/drawing/2014/main" id="{B154ABE5-BDD0-4F68-B365-4E88D9DE4723}"/>
              </a:ext>
            </a:extLst>
          </p:cNvPr>
          <p:cNvSpPr>
            <a:spLocks xmlns:a="http://schemas.openxmlformats.org/drawingml/2006/main" noGrp="1"/>
          </p:cNvSpPr>
          <p:nvPr/>
        </p:nvSpPr>
        <p:spPr>
          <a:xfrm xmlns:a="http://schemas.openxmlformats.org/drawingml/2006/main">
            <a:off x="609600" y="3609975"/>
            <a:ext cx="4238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36674"/>
                </a:solidFill>
                <a:latin typeface="Arial"/>
                <a:ea typeface="Arial"/>
                <a:cs typeface="Arial"/>
              </a:defRPr>
            </a:pPr>
            <a:r>
              <a:rPr sz="1950" b="0">
                <a:solidFill>
                  <a:srgbClr val="536674"/>
                </a:solidFill>
                <a:latin typeface="Arial"/>
                <a:ea typeface="Arial"/>
                <a:cs typeface="Arial"/>
              </a:rPr>
              <a:t>95% interval -0.96% to 3.03%</a:t>
            </a:r>
          </a:p>
          <a:p xmlns:a="http://schemas.openxmlformats.org/drawingml/2006/main">
            <a:pPr>
              <a:defRPr sz="1950" b="0">
                <a:solidFill>
                  <a:srgbClr val="536674"/>
                </a:solidFill>
                <a:latin typeface="Arial"/>
                <a:ea typeface="Arial"/>
                <a:cs typeface="Arial"/>
              </a:defRPr>
            </a:pPr>
            <a:r>
              <a:rPr sz="1950" b="0">
                <a:solidFill>
                  <a:srgbClr val="536674"/>
                </a:solidFill>
                <a:latin typeface="Arial"/>
                <a:ea typeface="Arial"/>
                <a:cs typeface="Arial"/>
              </a:rPr>
              <a:t>One-sided p = 0.1875</a:t>
            </a:r>
          </a:p>
        </p:txBody>
      </p:sp>
      <p:graphicFrame>
        <p:nvGraphicFramePr>
          <p:cNvPr id="18" name=""/>
          <p:cNvGraphicFramePr/>
          <p:nvPr/>
        </p:nvGraphicFramePr>
        <p:xfrm>
          <a:off xmlns:a="http://schemas.openxmlformats.org/drawingml/2006/main" x="5219700" y="2238375"/>
          <a:ext xmlns:a="http://schemas.openxmlformats.org/drawingml/2006/main" cx="6381750" cy="2724150"/>
        </p:xfrm>
        <a:graphic xmlns:a="http://schemas.openxmlformats.org/drawingml/2006/main">
          <a:graphicData uri="http://schemas.openxmlformats.org/drawingml/2006/table">
            <a:tbl>
              <a:tblPr/>
              <a:tblGrid>
                <a:gridCol w="2809875"/>
                <a:gridCol w="1333500"/>
                <a:gridCol w="1333500"/>
                <a:gridCol w="904875"/>
              </a:tblGrid>
              <a:tr h="544830">
                <a:tc>
                  <a:txBody>
                    <a:bodyPr>
                      <a:noAutofit/>
                    </a:bodyPr>
                    <a:lstStyle/>
                    <a:p>
                      <a:r>
                        <a:rPr sz="1650" b="1">
                          <a:solidFill>
                            <a:srgbClr val="FFFFFF"/>
                          </a:solidFill>
                          <a:latin typeface="Arial"/>
                          <a:ea typeface="Arial"/>
                          <a:cs typeface="Arial"/>
                        </a:rPr>
                        <a:t>Controlled harm</a:t>
                      </a:r>
                    </a:p>
                  </a:txBody>
                  <a:tcPr marL="114300" marR="114300" marT="66675" marB="66675" anchor="ctr">
                    <a:solidFill>
                      <a:srgbClr val="18344B"/>
                    </a:solidFill>
                  </a:tcPr>
                </a:tc>
                <a:tc>
                  <a:txBody>
                    <a:bodyPr>
                      <a:noAutofit/>
                    </a:bodyPr>
                    <a:lstStyle/>
                    <a:p>
                      <a:r>
                        <a:rPr sz="1650" b="1">
                          <a:solidFill>
                            <a:srgbClr val="FFFFFF"/>
                          </a:solidFill>
                          <a:latin typeface="Arial"/>
                          <a:ea typeface="Arial"/>
                          <a:cs typeface="Arial"/>
                        </a:rPr>
                        <a:t>95% upper</a:t>
                      </a:r>
                    </a:p>
                  </a:txBody>
                  <a:tcPr marL="114300" marR="114300" marT="66675" marB="66675" anchor="ctr">
                    <a:solidFill>
                      <a:srgbClr val="18344B"/>
                    </a:solidFill>
                  </a:tcPr>
                </a:tc>
                <a:tc>
                  <a:txBody>
                    <a:bodyPr>
                      <a:noAutofit/>
                    </a:bodyPr>
                    <a:lstStyle/>
                    <a:p>
                      <a:r>
                        <a:rPr sz="1650" b="1">
                          <a:solidFill>
                            <a:srgbClr val="FFFFFF"/>
                          </a:solidFill>
                          <a:latin typeface="Arial"/>
                          <a:ea typeface="Arial"/>
                          <a:cs typeface="Arial"/>
                        </a:rPr>
                        <a:t>Limit</a:t>
                      </a:r>
                    </a:p>
                  </a:txBody>
                  <a:tcPr marL="114300" marR="114300" marT="66675" marB="66675" anchor="ctr">
                    <a:solidFill>
                      <a:srgbClr val="18344B"/>
                    </a:solidFill>
                  </a:tcPr>
                </a:tc>
                <a:tc>
                  <a:txBody>
                    <a:bodyPr>
                      <a:noAutofit/>
                    </a:bodyPr>
                    <a:lstStyle/>
                    <a:p>
                      <a:r>
                        <a:rPr sz="1650" b="1">
                          <a:solidFill>
                            <a:srgbClr val="FFFFFF"/>
                          </a:solidFill>
                          <a:latin typeface="Arial"/>
                          <a:ea typeface="Arial"/>
                          <a:cs typeface="Arial"/>
                        </a:rPr>
                        <a:t>Gate</a:t>
                      </a:r>
                    </a:p>
                  </a:txBody>
                  <a:tcPr marL="114300" marR="114300" marT="66675" marB="66675" anchor="ctr">
                    <a:solidFill>
                      <a:srgbClr val="18344B"/>
                    </a:solidFill>
                  </a:tcPr>
                </a:tc>
              </a:tr>
              <a:tr h="544830">
                <a:tc>
                  <a:txBody>
                    <a:bodyPr>
                      <a:noAutofit/>
                    </a:bodyPr>
                    <a:lstStyle/>
                    <a:p>
                      <a:r>
                        <a:rPr sz="1650" b="0">
                          <a:solidFill>
                            <a:srgbClr val="18344B"/>
                          </a:solidFill>
                          <a:latin typeface="Arial"/>
                          <a:ea typeface="Arial"/>
                          <a:cs typeface="Arial"/>
                        </a:rPr>
                        <a:t>Closing-member loss</a:t>
                      </a:r>
                    </a:p>
                  </a:txBody>
                  <a:tcPr marL="114300" marR="114300" marT="66675" marB="66675" anchor="ctr">
                    <a:solidFill>
                      <a:srgbClr val="FFFFFF"/>
                    </a:solidFill>
                  </a:tcPr>
                </a:tc>
                <a:tc>
                  <a:txBody>
                    <a:bodyPr>
                      <a:noAutofit/>
                    </a:bodyPr>
                    <a:lstStyle/>
                    <a:p>
                      <a:r>
                        <a:rPr sz="1650" b="0">
                          <a:solidFill>
                            <a:srgbClr val="18344B"/>
                          </a:solidFill>
                          <a:latin typeface="Arial"/>
                          <a:ea typeface="Arial"/>
                          <a:cs typeface="Arial"/>
                        </a:rPr>
                        <a:t>3.81%</a:t>
                      </a:r>
                    </a:p>
                  </a:txBody>
                  <a:tcPr marL="114300" marR="114300" marT="66675" marB="66675" anchor="ctr">
                    <a:solidFill>
                      <a:srgbClr val="FFFFFF"/>
                    </a:solidFill>
                  </a:tcPr>
                </a:tc>
                <a:tc>
                  <a:txBody>
                    <a:bodyPr>
                      <a:noAutofit/>
                    </a:bodyPr>
                    <a:lstStyle/>
                    <a:p>
                      <a:r>
                        <a:rPr sz="1650" b="0">
                          <a:solidFill>
                            <a:srgbClr val="18344B"/>
                          </a:solidFill>
                          <a:latin typeface="Arial"/>
                          <a:ea typeface="Arial"/>
                          <a:cs typeface="Arial"/>
                        </a:rPr>
                        <a:t>3.00%</a:t>
                      </a:r>
                    </a:p>
                  </a:txBody>
                  <a:tcPr marL="114300" marR="114300" marT="66675" marB="66675" anchor="ctr">
                    <a:solidFill>
                      <a:srgbClr val="FFFFFF"/>
                    </a:solidFill>
                  </a:tcPr>
                </a:tc>
                <a:tc>
                  <a:txBody>
                    <a:bodyPr>
                      <a:noAutofit/>
                    </a:bodyPr>
                    <a:lstStyle/>
                    <a:p>
                      <a:r>
                        <a:rPr sz="1650" b="1">
                          <a:solidFill>
                            <a:srgbClr val="B54452"/>
                          </a:solidFill>
                          <a:latin typeface="Arial"/>
                          <a:ea typeface="Arial"/>
                          <a:cs typeface="Arial"/>
                        </a:rPr>
                        <a:t>Fail</a:t>
                      </a:r>
                    </a:p>
                  </a:txBody>
                  <a:tcPr marL="114300" marR="114300" marT="66675" marB="66675" anchor="ctr">
                    <a:solidFill>
                      <a:srgbClr val="FFFFFF"/>
                    </a:solidFill>
                  </a:tcPr>
                </a:tc>
              </a:tr>
              <a:tr h="544830">
                <a:tc>
                  <a:txBody>
                    <a:bodyPr>
                      <a:noAutofit/>
                    </a:bodyPr>
                    <a:lstStyle/>
                    <a:p>
                      <a:r>
                        <a:rPr sz="1650" b="0">
                          <a:solidFill>
                            <a:srgbClr val="18344B"/>
                          </a:solidFill>
                          <a:latin typeface="Arial"/>
                          <a:ea typeface="Arial"/>
                          <a:cs typeface="Arial"/>
                        </a:rPr>
                        <a:t>Standard acquisition loss</a:t>
                      </a:r>
                    </a:p>
                  </a:txBody>
                  <a:tcPr marL="114300" marR="114300" marT="66675" marB="66675" anchor="ctr">
                    <a:solidFill>
                      <a:srgbClr val="F1F5F6"/>
                    </a:solidFill>
                  </a:tcPr>
                </a:tc>
                <a:tc>
                  <a:txBody>
                    <a:bodyPr>
                      <a:noAutofit/>
                    </a:bodyPr>
                    <a:lstStyle/>
                    <a:p>
                      <a:r>
                        <a:rPr sz="1650" b="0">
                          <a:solidFill>
                            <a:srgbClr val="18344B"/>
                          </a:solidFill>
                          <a:latin typeface="Arial"/>
                          <a:ea typeface="Arial"/>
                          <a:cs typeface="Arial"/>
                        </a:rPr>
                        <a:t>11.15%</a:t>
                      </a:r>
                    </a:p>
                  </a:txBody>
                  <a:tcPr marL="114300" marR="114300" marT="66675" marB="66675" anchor="ctr">
                    <a:solidFill>
                      <a:srgbClr val="F1F5F6"/>
                    </a:solidFill>
                  </a:tcPr>
                </a:tc>
                <a:tc>
                  <a:txBody>
                    <a:bodyPr>
                      <a:noAutofit/>
                    </a:bodyPr>
                    <a:lstStyle/>
                    <a:p>
                      <a:r>
                        <a:rPr sz="1650" b="0">
                          <a:solidFill>
                            <a:srgbClr val="18344B"/>
                          </a:solidFill>
                          <a:latin typeface="Arial"/>
                          <a:ea typeface="Arial"/>
                          <a:cs typeface="Arial"/>
                        </a:rPr>
                        <a:t>10.00%</a:t>
                      </a:r>
                    </a:p>
                  </a:txBody>
                  <a:tcPr marL="114300" marR="114300" marT="66675" marB="66675" anchor="ctr">
                    <a:solidFill>
                      <a:srgbClr val="F1F5F6"/>
                    </a:solidFill>
                  </a:tcPr>
                </a:tc>
                <a:tc>
                  <a:txBody>
                    <a:bodyPr>
                      <a:noAutofit/>
                    </a:bodyPr>
                    <a:lstStyle/>
                    <a:p>
                      <a:r>
                        <a:rPr sz="1650" b="1">
                          <a:solidFill>
                            <a:srgbClr val="B54452"/>
                          </a:solidFill>
                          <a:latin typeface="Arial"/>
                          <a:ea typeface="Arial"/>
                          <a:cs typeface="Arial"/>
                        </a:rPr>
                        <a:t>Fail</a:t>
                      </a:r>
                    </a:p>
                  </a:txBody>
                  <a:tcPr marL="114300" marR="114300" marT="66675" marB="66675" anchor="ctr">
                    <a:solidFill>
                      <a:srgbClr val="F1F5F6"/>
                    </a:solidFill>
                  </a:tcPr>
                </a:tc>
              </a:tr>
              <a:tr h="544830">
                <a:tc>
                  <a:txBody>
                    <a:bodyPr>
                      <a:noAutofit/>
                    </a:bodyPr>
                    <a:lstStyle/>
                    <a:p>
                      <a:r>
                        <a:rPr sz="1650" b="0">
                          <a:solidFill>
                            <a:srgbClr val="18344B"/>
                          </a:solidFill>
                          <a:latin typeface="Arial"/>
                          <a:ea typeface="Arial"/>
                          <a:cs typeface="Arial"/>
                        </a:rPr>
                        <a:t>Monthly churn, pp</a:t>
                      </a:r>
                    </a:p>
                  </a:txBody>
                  <a:tcPr marL="114300" marR="114300" marT="66675" marB="66675" anchor="ctr">
                    <a:solidFill>
                      <a:srgbClr val="FFFFFF"/>
                    </a:solidFill>
                  </a:tcPr>
                </a:tc>
                <a:tc>
                  <a:txBody>
                    <a:bodyPr>
                      <a:noAutofit/>
                    </a:bodyPr>
                    <a:lstStyle/>
                    <a:p>
                      <a:r>
                        <a:rPr sz="1650" b="0">
                          <a:solidFill>
                            <a:srgbClr val="18344B"/>
                          </a:solidFill>
                          <a:latin typeface="Arial"/>
                          <a:ea typeface="Arial"/>
                          <a:cs typeface="Arial"/>
                        </a:rPr>
                        <a:t>+0.530</a:t>
                      </a:r>
                    </a:p>
                  </a:txBody>
                  <a:tcPr marL="114300" marR="114300" marT="66675" marB="66675" anchor="ctr">
                    <a:solidFill>
                      <a:srgbClr val="FFFFFF"/>
                    </a:solidFill>
                  </a:tcPr>
                </a:tc>
                <a:tc>
                  <a:txBody>
                    <a:bodyPr>
                      <a:noAutofit/>
                    </a:bodyPr>
                    <a:lstStyle/>
                    <a:p>
                      <a:r>
                        <a:rPr sz="1650" b="0">
                          <a:solidFill>
                            <a:srgbClr val="18344B"/>
                          </a:solidFill>
                          <a:latin typeface="Arial"/>
                          <a:ea typeface="Arial"/>
                          <a:cs typeface="Arial"/>
                        </a:rPr>
                        <a:t>+0.250</a:t>
                      </a:r>
                    </a:p>
                  </a:txBody>
                  <a:tcPr marL="114300" marR="114300" marT="66675" marB="66675" anchor="ctr">
                    <a:solidFill>
                      <a:srgbClr val="FFFFFF"/>
                    </a:solidFill>
                  </a:tcPr>
                </a:tc>
                <a:tc>
                  <a:txBody>
                    <a:bodyPr>
                      <a:noAutofit/>
                    </a:bodyPr>
                    <a:lstStyle/>
                    <a:p>
                      <a:r>
                        <a:rPr sz="1650" b="1">
                          <a:solidFill>
                            <a:srgbClr val="B54452"/>
                          </a:solidFill>
                          <a:latin typeface="Arial"/>
                          <a:ea typeface="Arial"/>
                          <a:cs typeface="Arial"/>
                        </a:rPr>
                        <a:t>Fail</a:t>
                      </a:r>
                    </a:p>
                  </a:txBody>
                  <a:tcPr marL="114300" marR="114300" marT="66675" marB="66675" anchor="ctr">
                    <a:solidFill>
                      <a:srgbClr val="FFFFFF"/>
                    </a:solidFill>
                  </a:tcPr>
                </a:tc>
              </a:tr>
              <a:tr h="544830">
                <a:tc>
                  <a:txBody>
                    <a:bodyPr>
                      <a:noAutofit/>
                    </a:bodyPr>
                    <a:lstStyle/>
                    <a:p>
                      <a:r>
                        <a:rPr sz="1650" b="0">
                          <a:solidFill>
                            <a:srgbClr val="18344B"/>
                          </a:solidFill>
                          <a:latin typeface="Arial"/>
                          <a:ea typeface="Arial"/>
                          <a:cs typeface="Arial"/>
                        </a:rPr>
                        <a:t>Monthly downgrades, pp</a:t>
                      </a:r>
                    </a:p>
                  </a:txBody>
                  <a:tcPr marL="114300" marR="114300" marT="66675" marB="66675" anchor="ctr">
                    <a:solidFill>
                      <a:srgbClr val="F1F5F6"/>
                    </a:solidFill>
                  </a:tcPr>
                </a:tc>
                <a:tc>
                  <a:txBody>
                    <a:bodyPr>
                      <a:noAutofit/>
                    </a:bodyPr>
                    <a:lstStyle/>
                    <a:p>
                      <a:r>
                        <a:rPr sz="1650" b="0">
                          <a:solidFill>
                            <a:srgbClr val="18344B"/>
                          </a:solidFill>
                          <a:latin typeface="Arial"/>
                          <a:ea typeface="Arial"/>
                          <a:cs typeface="Arial"/>
                        </a:rPr>
                        <a:t>+0.214</a:t>
                      </a:r>
                    </a:p>
                  </a:txBody>
                  <a:tcPr marL="114300" marR="114300" marT="66675" marB="66675" anchor="ctr">
                    <a:solidFill>
                      <a:srgbClr val="F1F5F6"/>
                    </a:solidFill>
                  </a:tcPr>
                </a:tc>
                <a:tc>
                  <a:txBody>
                    <a:bodyPr>
                      <a:noAutofit/>
                    </a:bodyPr>
                    <a:lstStyle/>
                    <a:p>
                      <a:r>
                        <a:rPr sz="1650" b="0">
                          <a:solidFill>
                            <a:srgbClr val="18344B"/>
                          </a:solidFill>
                          <a:latin typeface="Arial"/>
                          <a:ea typeface="Arial"/>
                          <a:cs typeface="Arial"/>
                        </a:rPr>
                        <a:t>+0.250</a:t>
                      </a:r>
                    </a:p>
                  </a:txBody>
                  <a:tcPr marL="114300" marR="114300" marT="66675" marB="66675" anchor="ctr">
                    <a:solidFill>
                      <a:srgbClr val="F1F5F6"/>
                    </a:solidFill>
                  </a:tcPr>
                </a:tc>
                <a:tc>
                  <a:txBody>
                    <a:bodyPr>
                      <a:noAutofit/>
                    </a:bodyPr>
                    <a:lstStyle/>
                    <a:p>
                      <a:r>
                        <a:rPr sz="1650" b="1">
                          <a:solidFill>
                            <a:srgbClr val="008E87"/>
                          </a:solidFill>
                          <a:latin typeface="Arial"/>
                          <a:ea typeface="Arial"/>
                          <a:cs typeface="Arial"/>
                        </a:rPr>
                        <a:t>Pass</a:t>
                      </a:r>
                    </a:p>
                  </a:txBody>
                  <a:tcPr marL="114300" marR="114300" marT="66675" marB="66675" anchor="ctr">
                    <a:solidFill>
                      <a:srgbClr val="F1F5F6"/>
                    </a:solidFill>
                  </a:tcPr>
                </a:tc>
              </a:tr>
            </a:tbl>
          </a:graphicData>
        </a:graphic>
      </p:graphicFrame>
      <p:sp>
        <p:nvSpPr>
          <p:cNvPr id="9" name="">
            <a:extLst xmlns:a="http://schemas.openxmlformats.org/drawingml/2006/main">
              <a:ext uri="{FF2B5EF4-FFF2-40B4-BE49-F238E27FC236}">
                <a16:creationId xmlns:a16="http://schemas.microsoft.com/office/drawing/2014/main" id="{31C19824-D8C1-47BE-AE5E-A9243D810CDE}"/>
              </a:ext>
            </a:extLst>
          </p:cNvPr>
          <p:cNvSpPr>
            <a:spLocks xmlns:a="http://schemas.openxmlformats.org/drawingml/2006/main" noGrp="1"/>
          </p:cNvSpPr>
          <p:nvPr/>
        </p:nvSpPr>
        <p:spPr>
          <a:xfrm xmlns:a="http://schemas.openxmlformats.org/drawingml/2006/main">
            <a:off x="609600" y="51625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B54452"/>
                </a:solidFill>
                <a:latin typeface="Arial"/>
                <a:ea typeface="Arial"/>
                <a:cs typeface="Arial"/>
              </a:defRPr>
            </a:pPr>
            <a:r>
              <a:rPr sz="2100" b="1">
                <a:solidFill>
                  <a:srgbClr val="B54452"/>
                </a:solidFill>
                <a:latin typeface="Arial"/>
                <a:ea typeface="Arial"/>
                <a:cs typeface="Arial"/>
              </a:rPr>
              <a:t>Twelve months: STOP. The churn lower harm bound exceeds the tolerance.</a:t>
            </a:r>
          </a:p>
        </p:txBody>
      </p:sp>
      <p:sp>
        <p:nvSpPr>
          <p:cNvPr id="10" name="">
            <a:extLst xmlns:a="http://schemas.openxmlformats.org/drawingml/2006/main">
              <a:ext uri="{FF2B5EF4-FFF2-40B4-BE49-F238E27FC236}">
                <a16:creationId xmlns:a16="http://schemas.microsoft.com/office/drawing/2014/main" id="{0BB8F8BA-2C72-4B2B-B30B-160CA0EEE7BC}"/>
              </a:ext>
            </a:extLst>
          </p:cNvPr>
          <p:cNvSpPr>
            <a:spLocks xmlns:a="http://schemas.openxmlformats.org/drawingml/2006/main" noGrp="1"/>
          </p:cNvSpPr>
          <p:nvPr/>
        </p:nvSpPr>
        <p:spPr>
          <a:xfrm xmlns:a="http://schemas.openxmlformats.org/drawingml/2006/main">
            <a:off x="609600" y="57150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674"/>
                </a:solidFill>
                <a:latin typeface="Arial"/>
                <a:ea typeface="Arial"/>
                <a:cs typeface="Arial"/>
              </a:defRPr>
            </a:pPr>
            <a:r>
              <a:rPr sz="1725" b="0">
                <a:solidFill>
                  <a:srgbClr val="536674"/>
                </a:solidFill>
                <a:latin typeface="Arial"/>
                <a:ea typeface="Arial"/>
                <a:cs typeface="Arial"/>
              </a:rPr>
              <a:t>Planning power at a 2% effect: 64.7%. Detectable effect at 80% power: 2.74%.</a:t>
            </a:r>
          </a:p>
        </p:txBody>
      </p:sp>
    </p:spTree>
    <p:extLst>
      <p:ext uri="{BB962C8B-B14F-4D97-AF65-F5344CB8AC3E}">
        <p14:creationId xmlns:p14="http://schemas.microsoft.com/office/powerpoint/2010/main" val="4943510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DE56109-A9F3-4D39-BB91-053CFE32A78D}"/>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8344B"/>
                </a:solidFill>
                <a:latin typeface="Arial"/>
                <a:ea typeface="Arial"/>
                <a:cs typeface="Arial"/>
              </a:defRPr>
            </a:pPr>
            <a:r>
              <a:rPr sz="3225" b="1">
                <a:solidFill>
                  <a:srgbClr val="18344B"/>
                </a:solidFill>
                <a:latin typeface="Arial"/>
                <a:ea typeface="Arial"/>
                <a:cs typeface="Arial"/>
              </a:rPr>
              <a:t>New evidence is needed before broader repricing</a:t>
            </a:r>
          </a:p>
        </p:txBody>
      </p:sp>
      <p:sp>
        <p:nvSpPr>
          <p:cNvPr id="2" name="">
            <a:extLst xmlns:a="http://schemas.openxmlformats.org/drawingml/2006/main">
              <a:ext uri="{FF2B5EF4-FFF2-40B4-BE49-F238E27FC236}">
                <a16:creationId xmlns:a16="http://schemas.microsoft.com/office/drawing/2014/main" id="{ED80C933-F05E-46A2-89DF-BE769DB37FC7}"/>
              </a:ext>
            </a:extLst>
          </p:cNvPr>
          <p:cNvSpPr>
            <a:spLocks xmlns:a="http://schemas.openxmlformats.org/drawingml/2006/main" noGrp="1"/>
          </p:cNvSpPr>
          <p:nvPr/>
        </p:nvSpPr>
        <p:spPr>
          <a:xfrm xmlns:a="http://schemas.openxmlformats.org/drawingml/2006/main">
            <a:off x="609600" y="6238875"/>
            <a:ext cx="10629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Hypothetical management proposal. Revenue improvement does not establish profit improvement.</a:t>
            </a:r>
          </a:p>
        </p:txBody>
      </p:sp>
      <p:sp>
        <p:nvSpPr>
          <p:cNvPr id="3" name="">
            <a:extLst xmlns:a="http://schemas.openxmlformats.org/drawingml/2006/main">
              <a:ext uri="{FF2B5EF4-FFF2-40B4-BE49-F238E27FC236}">
                <a16:creationId xmlns:a16="http://schemas.microsoft.com/office/drawing/2014/main" id="{79B9D6AA-3273-4B05-88C6-538957E43E35}"/>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F3D38E9F-49BF-4D04-8948-65A5CC4D10CE}"/>
              </a:ext>
            </a:extLst>
          </p:cNvPr>
          <p:cNvSpPr>
            <a:spLocks xmlns:a="http://schemas.openxmlformats.org/drawingml/2006/main" noGrp="1"/>
          </p:cNvSpPr>
          <p:nvPr/>
        </p:nvSpPr>
        <p:spPr>
          <a:xfrm xmlns:a="http://schemas.openxmlformats.org/drawingml/2006/main">
            <a:off x="609600" y="17049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344B"/>
                </a:solidFill>
                <a:latin typeface="Arial"/>
                <a:ea typeface="Arial"/>
                <a:cs typeface="Arial"/>
              </a:defRPr>
            </a:pPr>
            <a:r>
              <a:rPr sz="1950" b="1">
                <a:solidFill>
                  <a:srgbClr val="18344B"/>
                </a:solidFill>
                <a:latin typeface="Arial"/>
                <a:ea typeface="Arial"/>
                <a:cs typeface="Arial"/>
              </a:rPr>
              <a:t>A real £1 pilot needs fresh eligibility and prospective assignment</a:t>
            </a:r>
          </a:p>
        </p:txBody>
      </p:sp>
      <p:sp>
        <p:nvSpPr>
          <p:cNvPr id="5" name="">
            <a:extLst xmlns:a="http://schemas.openxmlformats.org/drawingml/2006/main">
              <a:ext uri="{FF2B5EF4-FFF2-40B4-BE49-F238E27FC236}">
                <a16:creationId xmlns:a16="http://schemas.microsoft.com/office/drawing/2014/main" id="{80C34542-8626-4A56-B549-E4F753452731}"/>
              </a:ext>
            </a:extLst>
          </p:cNvPr>
          <p:cNvSpPr>
            <a:spLocks xmlns:a="http://schemas.openxmlformats.org/drawingml/2006/main" noGrp="1"/>
          </p:cNvSpPr>
          <p:nvPr/>
        </p:nvSpPr>
        <p:spPr>
          <a:xfrm xmlns:a="http://schemas.openxmlformats.org/drawingml/2006/main">
            <a:off x="609600" y="21050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674"/>
                </a:solidFill>
                <a:latin typeface="Arial"/>
                <a:ea typeface="Arial"/>
                <a:cs typeface="Arial"/>
              </a:defRPr>
            </a:pPr>
            <a:r>
              <a:rPr sz="1725" b="0">
                <a:solidFill>
                  <a:srgbClr val="536674"/>
                </a:solidFill>
                <a:latin typeface="Arial"/>
                <a:ea typeface="Arial"/>
                <a:cs typeface="Arial"/>
              </a:rPr>
              <a:t>Comparable first-repricing sites form the primary population. Repeat repricing remains exploratory.</a:t>
            </a:r>
          </a:p>
        </p:txBody>
      </p:sp>
      <p:sp>
        <p:nvSpPr>
          <p:cNvPr id="6" name="">
            <a:extLst xmlns:a="http://schemas.openxmlformats.org/drawingml/2006/main">
              <a:ext uri="{FF2B5EF4-FFF2-40B4-BE49-F238E27FC236}">
                <a16:creationId xmlns:a16="http://schemas.microsoft.com/office/drawing/2014/main" id="{701FFB0B-C90A-4E8E-8FCB-B5DAD19F20EA}"/>
              </a:ext>
            </a:extLst>
          </p:cNvPr>
          <p:cNvSpPr>
            <a:spLocks xmlns:a="http://schemas.openxmlformats.org/drawingml/2006/main" noGrp="1"/>
          </p:cNvSpPr>
          <p:nvPr/>
        </p:nvSpPr>
        <p:spPr>
          <a:xfrm xmlns:a="http://schemas.openxmlformats.org/drawingml/2006/main">
            <a:off x="609600" y="25050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344B"/>
                </a:solidFill>
                <a:latin typeface="Arial"/>
                <a:ea typeface="Arial"/>
                <a:cs typeface="Arial"/>
              </a:defRPr>
            </a:pPr>
            <a:r>
              <a:rPr sz="1950" b="1">
                <a:solidFill>
                  <a:srgbClr val="18344B"/>
                </a:solidFill>
                <a:latin typeface="Arial"/>
                <a:ea typeface="Arial"/>
                <a:cs typeface="Arial"/>
              </a:rPr>
              <a:t>Safety reviews precede the six-month commercial assessment</a:t>
            </a:r>
          </a:p>
        </p:txBody>
      </p:sp>
      <p:sp>
        <p:nvSpPr>
          <p:cNvPr id="7" name="">
            <a:extLst xmlns:a="http://schemas.openxmlformats.org/drawingml/2006/main">
              <a:ext uri="{FF2B5EF4-FFF2-40B4-BE49-F238E27FC236}">
                <a16:creationId xmlns:a16="http://schemas.microsoft.com/office/drawing/2014/main" id="{AE5A971A-EAE1-4A2B-BFD6-CF1957B11A9B}"/>
              </a:ext>
            </a:extLst>
          </p:cNvPr>
          <p:cNvSpPr>
            <a:spLocks xmlns:a="http://schemas.openxmlformats.org/drawingml/2006/main" noGrp="1"/>
          </p:cNvSpPr>
          <p:nvPr/>
        </p:nvSpPr>
        <p:spPr>
          <a:xfrm xmlns:a="http://schemas.openxmlformats.org/drawingml/2006/main">
            <a:off x="609600" y="29051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674"/>
                </a:solidFill>
                <a:latin typeface="Arial"/>
                <a:ea typeface="Arial"/>
                <a:cs typeface="Arial"/>
              </a:defRPr>
            </a:pPr>
            <a:r>
              <a:rPr sz="1725" b="0">
                <a:solidFill>
                  <a:srgbClr val="536674"/>
                </a:solidFill>
                <a:latin typeface="Arial"/>
                <a:ea typeface="Arial"/>
                <a:cs typeface="Arial"/>
              </a:rPr>
              <a:t>Approximately 30 and 90 days, then six months and twelve months. Study controls remain unchanged.</a:t>
            </a:r>
          </a:p>
        </p:txBody>
      </p:sp>
      <p:sp>
        <p:nvSpPr>
          <p:cNvPr id="8" name="">
            <a:extLst xmlns:a="http://schemas.openxmlformats.org/drawingml/2006/main">
              <a:ext uri="{FF2B5EF4-FFF2-40B4-BE49-F238E27FC236}">
                <a16:creationId xmlns:a16="http://schemas.microsoft.com/office/drawing/2014/main" id="{165A8674-E5C3-4C0C-9FF1-DE3F17D157EC}"/>
              </a:ext>
            </a:extLst>
          </p:cNvPr>
          <p:cNvSpPr>
            <a:spLocks xmlns:a="http://schemas.openxmlformats.org/drawingml/2006/main" noGrp="1"/>
          </p:cNvSpPr>
          <p:nvPr/>
        </p:nvSpPr>
        <p:spPr>
          <a:xfrm xmlns:a="http://schemas.openxmlformats.org/drawingml/2006/main">
            <a:off x="609600" y="33051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344B"/>
                </a:solidFill>
                <a:latin typeface="Arial"/>
                <a:ea typeface="Arial"/>
                <a:cs typeface="Arial"/>
              </a:defRPr>
            </a:pPr>
            <a:r>
              <a:rPr sz="1950" b="1">
                <a:solidFill>
                  <a:srgbClr val="18344B"/>
                </a:solidFill>
                <a:latin typeface="Arial"/>
                <a:ea typeface="Arial"/>
                <a:cs typeface="Arial"/>
              </a:rPr>
              <a:t>Rollout depends on financial and member confidence bounds</a:t>
            </a:r>
          </a:p>
        </p:txBody>
      </p:sp>
      <p:sp>
        <p:nvSpPr>
          <p:cNvPr id="9" name="">
            <a:extLst xmlns:a="http://schemas.openxmlformats.org/drawingml/2006/main">
              <a:ext uri="{FF2B5EF4-FFF2-40B4-BE49-F238E27FC236}">
                <a16:creationId xmlns:a16="http://schemas.microsoft.com/office/drawing/2014/main" id="{C8F25696-1CB7-45EA-B53E-24BD7C88FEAF}"/>
              </a:ext>
            </a:extLst>
          </p:cNvPr>
          <p:cNvSpPr>
            <a:spLocks xmlns:a="http://schemas.openxmlformats.org/drawingml/2006/main" noGrp="1"/>
          </p:cNvSpPr>
          <p:nvPr/>
        </p:nvSpPr>
        <p:spPr>
          <a:xfrm xmlns:a="http://schemas.openxmlformats.org/drawingml/2006/main">
            <a:off x="609600" y="37052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674"/>
                </a:solidFill>
                <a:latin typeface="Arial"/>
                <a:ea typeface="Arial"/>
                <a:cs typeface="Arial"/>
              </a:defRPr>
            </a:pPr>
            <a:r>
              <a:rPr sz="1725" b="0">
                <a:solidFill>
                  <a:srgbClr val="536674"/>
                </a:solidFill>
                <a:latin typeface="Arial"/>
                <a:ea typeface="Arial"/>
                <a:cs typeface="Arial"/>
              </a:rPr>
              <a:t>Positive revenue lower bound, one-sided p ≤ 5%, and every harm upper bound within its tolerance.</a:t>
            </a:r>
          </a:p>
        </p:txBody>
      </p:sp>
      <p:sp>
        <p:nvSpPr>
          <p:cNvPr id="10" name="">
            <a:extLst xmlns:a="http://schemas.openxmlformats.org/drawingml/2006/main">
              <a:ext uri="{FF2B5EF4-FFF2-40B4-BE49-F238E27FC236}">
                <a16:creationId xmlns:a16="http://schemas.microsoft.com/office/drawing/2014/main" id="{120FAF7C-28B7-4BE1-8F7B-66A6FE69715F}"/>
              </a:ext>
            </a:extLst>
          </p:cNvPr>
          <p:cNvSpPr>
            <a:spLocks xmlns:a="http://schemas.openxmlformats.org/drawingml/2006/main" noGrp="1"/>
          </p:cNvSpPr>
          <p:nvPr/>
        </p:nvSpPr>
        <p:spPr>
          <a:xfrm xmlns:a="http://schemas.openxmlformats.org/drawingml/2006/main">
            <a:off x="609600" y="41052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344B"/>
                </a:solidFill>
                <a:latin typeface="Arial"/>
                <a:ea typeface="Arial"/>
                <a:cs typeface="Arial"/>
              </a:defRPr>
            </a:pPr>
            <a:r>
              <a:rPr sz="1950" b="1">
                <a:solidFill>
                  <a:srgbClr val="18344B"/>
                </a:solidFill>
                <a:latin typeface="Arial"/>
                <a:ea typeface="Arial"/>
                <a:cs typeface="Arial"/>
              </a:rPr>
              <a:t>Finance and Operations must assess the remaining business risks</a:t>
            </a:r>
          </a:p>
        </p:txBody>
      </p:sp>
      <p:sp>
        <p:nvSpPr>
          <p:cNvPr id="11" name="">
            <a:extLst xmlns:a="http://schemas.openxmlformats.org/drawingml/2006/main">
              <a:ext uri="{FF2B5EF4-FFF2-40B4-BE49-F238E27FC236}">
                <a16:creationId xmlns:a16="http://schemas.microsoft.com/office/drawing/2014/main" id="{EA410526-28B0-46BA-A7AA-4FB5FE9092FB}"/>
              </a:ext>
            </a:extLst>
          </p:cNvPr>
          <p:cNvSpPr>
            <a:spLocks xmlns:a="http://schemas.openxmlformats.org/drawingml/2006/main" noGrp="1"/>
          </p:cNvSpPr>
          <p:nvPr/>
        </p:nvSpPr>
        <p:spPr>
          <a:xfrm xmlns:a="http://schemas.openxmlformats.org/drawingml/2006/main">
            <a:off x="609600" y="45053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674"/>
                </a:solidFill>
                <a:latin typeface="Arial"/>
                <a:ea typeface="Arial"/>
                <a:cs typeface="Arial"/>
              </a:defRPr>
            </a:pPr>
            <a:r>
              <a:rPr sz="1725" b="0">
                <a:solidFill>
                  <a:srgbClr val="536674"/>
                </a:solidFill>
                <a:latin typeface="Arial"/>
                <a:ea typeface="Arial"/>
                <a:cs typeface="Arial"/>
              </a:rPr>
              <a:t>Contribution costs, competitor response, complaints and sustained service pressure need review.</a:t>
            </a:r>
          </a:p>
        </p:txBody>
      </p:sp>
      <p:sp>
        <p:nvSpPr>
          <p:cNvPr id="12" name="">
            <a:extLst xmlns:a="http://schemas.openxmlformats.org/drawingml/2006/main">
              <a:ext uri="{FF2B5EF4-FFF2-40B4-BE49-F238E27FC236}">
                <a16:creationId xmlns:a16="http://schemas.microsoft.com/office/drawing/2014/main" id="{0C6EABA7-13AF-46F5-B94D-9CE203E3C4E1}"/>
              </a:ext>
            </a:extLst>
          </p:cNvPr>
          <p:cNvSpPr>
            <a:spLocks xmlns:a="http://schemas.openxmlformats.org/drawingml/2006/main" noGrp="1"/>
          </p:cNvSpPr>
          <p:nvPr/>
        </p:nvSpPr>
        <p:spPr>
          <a:xfrm xmlns:a="http://schemas.openxmlformats.org/drawingml/2006/main">
            <a:off x="609600" y="5200650"/>
            <a:ext cx="109347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This project uses synthetic data and is inspired by the commercial economics of UK subscription fitness businesses.</a:t>
            </a:r>
          </a:p>
          <a:p xmlns:a="http://schemas.openxmlformats.org/drawingml/2006/main">
            <a:r>
              <a:t/>
            </a:r>
          </a:p>
          <a:p xmlns:a="http://schemas.openxmlformats.org/drawingml/2006/main">
            <a:pPr>
              <a:defRPr sz="1200" b="0">
                <a:solidFill>
                  <a:srgbClr val="536674"/>
                </a:solidFill>
                <a:latin typeface="Arial"/>
                <a:ea typeface="Arial"/>
                <a:cs typeface="Arial"/>
              </a:defRPr>
            </a:pPr>
            <a:r>
              <a:rPr sz="1200" b="0">
                <a:solidFill>
                  <a:srgbClr val="536674"/>
                </a:solidFill>
                <a:latin typeface="Arial"/>
                <a:ea typeface="Arial"/>
                <a:cs typeface="Arial"/>
              </a:rPr>
              <a:t>This project uses synthetic data created for portfolio purposes. It is inspired by the economics of multi-site subscription fitness businesses and does not use confidential information from The Gym Group or any other operator.</a:t>
            </a:r>
          </a:p>
        </p:txBody>
      </p:sp>
    </p:spTree>
    <p:extLst>
      <p:ext uri="{BB962C8B-B14F-4D97-AF65-F5344CB8AC3E}">
        <p14:creationId xmlns:p14="http://schemas.microsoft.com/office/powerpoint/2010/main" val="15034226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2026-10-06T12:13:12.7680000Z</dcterms:created>
  <dcterms:modified xsi:type="dcterms:W3CDTF">2026-10-06T12:13:12.7680000Z</dcterms:modified>
</coreProperties>
</file>